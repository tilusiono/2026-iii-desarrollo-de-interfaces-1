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57f054034c4f8c" /><Relationship Type="http://schemas.openxmlformats.org/officeDocument/2006/relationships/extended-properties" Target="/docProps/app.xml" Id="R3e555f4a49814f76" /><Relationship Type="http://schemas.openxmlformats.org/officeDocument/2006/relationships/officeDocument" Target="/ppt/presentation.xml" Id="R95134d44aae54b4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9e022288f644dc1"/>
  </p:sldMasterIdLst>
  <p:notesMasterIdLst>
    <p:notesMasterId xmlns:r="http://schemas.openxmlformats.org/officeDocument/2006/relationships" r:id="Rad5f2c43d26f45cf"/>
  </p:notesMasterIdLst>
  <p:sldIdLst>
    <p:sldId xmlns:r="http://schemas.openxmlformats.org/officeDocument/2006/relationships" id="256" r:id="R8e9cec0892d44b81"/>
    <p:sldId xmlns:r="http://schemas.openxmlformats.org/officeDocument/2006/relationships" id="257" r:id="Rfd8c1e08e9f24a84"/>
    <p:sldId xmlns:r="http://schemas.openxmlformats.org/officeDocument/2006/relationships" id="258" r:id="R369183f824484c22"/>
    <p:sldId xmlns:r="http://schemas.openxmlformats.org/officeDocument/2006/relationships" id="259" r:id="R140f1b67ce834839"/>
    <p:sldId xmlns:r="http://schemas.openxmlformats.org/officeDocument/2006/relationships" id="260" r:id="R0720ac35c724421e"/>
    <p:sldId xmlns:r="http://schemas.openxmlformats.org/officeDocument/2006/relationships" id="261" r:id="Rf126a17640104184"/>
    <p:sldId xmlns:r="http://schemas.openxmlformats.org/officeDocument/2006/relationships" id="262" r:id="Rb9fa6f13b09b40e5"/>
    <p:sldId xmlns:r="http://schemas.openxmlformats.org/officeDocument/2006/relationships" id="263" r:id="Reabac43c31894a3e"/>
    <p:sldId xmlns:r="http://schemas.openxmlformats.org/officeDocument/2006/relationships" id="264" r:id="R5ef87dcc55db4e6d"/>
    <p:sldId xmlns:r="http://schemas.openxmlformats.org/officeDocument/2006/relationships" id="265" r:id="Rd88d71f9615241c1"/>
    <p:sldId xmlns:r="http://schemas.openxmlformats.org/officeDocument/2006/relationships" id="266" r:id="Rab752e9ba98a40c1"/>
    <p:sldId xmlns:r="http://schemas.openxmlformats.org/officeDocument/2006/relationships" id="267" r:id="R0f5c7004a5bc4c6c"/>
    <p:sldId xmlns:r="http://schemas.openxmlformats.org/officeDocument/2006/relationships" id="268" r:id="Rfb38b1c24b6744a7"/>
    <p:sldId xmlns:r="http://schemas.openxmlformats.org/officeDocument/2006/relationships" id="269" r:id="Rb178ae226aed4dc6"/>
    <p:sldId xmlns:r="http://schemas.openxmlformats.org/officeDocument/2006/relationships" id="270" r:id="R173e5c05198d4761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4572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47756085f3844e4" /><Relationship Type="http://schemas.openxmlformats.org/officeDocument/2006/relationships/slideMaster" Target="/ppt/slideMasters/slideMaster1.xml" Id="Rf9e022288f644dc1" /><Relationship Type="http://schemas.openxmlformats.org/officeDocument/2006/relationships/notesMaster" Target="/ppt/notesMasters/notesMaster1.xml" Id="Rad5f2c43d26f45cf" /><Relationship Type="http://schemas.openxmlformats.org/officeDocument/2006/relationships/presProps" Target="/ppt/presProps.xml" Id="Rcf183ebfeb534500" /><Relationship Type="http://schemas.openxmlformats.org/officeDocument/2006/relationships/viewProps" Target="/ppt/viewProps.xml" Id="R33afddafedea4eb5" /><Relationship Type="http://schemas.openxmlformats.org/officeDocument/2006/relationships/tableStyles" Target="/ppt/tableStyles.xml" Id="R23bbfbdd1efb4002" /><Relationship Type="http://schemas.openxmlformats.org/officeDocument/2006/relationships/slide" Target="/ppt/slides/slide1.xml" Id="R8e9cec0892d44b81" /><Relationship Type="http://schemas.openxmlformats.org/officeDocument/2006/relationships/slide" Target="/ppt/slides/slide2.xml" Id="Rfd8c1e08e9f24a84" /><Relationship Type="http://schemas.openxmlformats.org/officeDocument/2006/relationships/slide" Target="/ppt/slides/slide3.xml" Id="R369183f824484c22" /><Relationship Type="http://schemas.openxmlformats.org/officeDocument/2006/relationships/slide" Target="/ppt/slides/slide4.xml" Id="R140f1b67ce834839" /><Relationship Type="http://schemas.openxmlformats.org/officeDocument/2006/relationships/slide" Target="/ppt/slides/slide5.xml" Id="R0720ac35c724421e" /><Relationship Type="http://schemas.openxmlformats.org/officeDocument/2006/relationships/slide" Target="/ppt/slides/slide6.xml" Id="Rf126a17640104184" /><Relationship Type="http://schemas.openxmlformats.org/officeDocument/2006/relationships/slide" Target="/ppt/slides/slide7.xml" Id="Rb9fa6f13b09b40e5" /><Relationship Type="http://schemas.openxmlformats.org/officeDocument/2006/relationships/slide" Target="/ppt/slides/slide8.xml" Id="Reabac43c31894a3e" /><Relationship Type="http://schemas.openxmlformats.org/officeDocument/2006/relationships/slide" Target="/ppt/slides/slide9.xml" Id="R5ef87dcc55db4e6d" /><Relationship Type="http://schemas.openxmlformats.org/officeDocument/2006/relationships/slide" Target="/ppt/slides/slide10.xml" Id="Rd88d71f9615241c1" /><Relationship Type="http://schemas.openxmlformats.org/officeDocument/2006/relationships/slide" Target="/ppt/slides/slide11.xml" Id="Rab752e9ba98a40c1" /><Relationship Type="http://schemas.openxmlformats.org/officeDocument/2006/relationships/slide" Target="/ppt/slides/slide12.xml" Id="R0f5c7004a5bc4c6c" /><Relationship Type="http://schemas.openxmlformats.org/officeDocument/2006/relationships/slide" Target="/ppt/slides/slide13.xml" Id="Rfb38b1c24b6744a7" /><Relationship Type="http://schemas.openxmlformats.org/officeDocument/2006/relationships/slide" Target="/ppt/slides/slide14.xml" Id="Rb178ae226aed4dc6" /><Relationship Type="http://schemas.openxmlformats.org/officeDocument/2006/relationships/slide" Target="/ppt/slides/slide15.xml" Id="R173e5c05198d476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7f3373cd3b45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7fd9217e404589" /><Relationship Type="http://schemas.openxmlformats.org/officeDocument/2006/relationships/notesMaster" Target="/ppt/notesMasters/notesMaster1.xml" Id="Re5b3979d07464c0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1167a6ff474234" /><Relationship Type="http://schemas.openxmlformats.org/officeDocument/2006/relationships/notesMaster" Target="/ppt/notesMasters/notesMaster1.xml" Id="R8ae984ca3a5049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e846e4c4484107" /><Relationship Type="http://schemas.openxmlformats.org/officeDocument/2006/relationships/notesMaster" Target="/ppt/notesMasters/notesMaster1.xml" Id="R92b5dc82fe62495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67982f30fad46b0" /><Relationship Type="http://schemas.openxmlformats.org/officeDocument/2006/relationships/notesMaster" Target="/ppt/notesMasters/notesMaster1.xml" Id="Read4cf920eab490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3020098ddd4374" /><Relationship Type="http://schemas.openxmlformats.org/officeDocument/2006/relationships/notesMaster" Target="/ppt/notesMasters/notesMaster1.xml" Id="Rb5fc1edfd28742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5a2d013215497a" /><Relationship Type="http://schemas.openxmlformats.org/officeDocument/2006/relationships/notesMaster" Target="/ppt/notesMasters/notesMaster1.xml" Id="Re84365393a6f46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30c778ba37948a0" /><Relationship Type="http://schemas.openxmlformats.org/officeDocument/2006/relationships/notesMaster" Target="/ppt/notesMasters/notesMaster1.xml" Id="Rf0eb8deb784749b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d642cbc23f4f69" /><Relationship Type="http://schemas.openxmlformats.org/officeDocument/2006/relationships/notesMaster" Target="/ppt/notesMasters/notesMaster1.xml" Id="R69769cdc890248d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eed41981fb4c23" /><Relationship Type="http://schemas.openxmlformats.org/officeDocument/2006/relationships/notesMaster" Target="/ppt/notesMasters/notesMaster1.xml" Id="Rfe0385cdfa1f42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e4d284a6a70436e" /><Relationship Type="http://schemas.openxmlformats.org/officeDocument/2006/relationships/notesMaster" Target="/ppt/notesMasters/notesMaster1.xml" Id="Re59e59499f834f0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d8e79e24d1a47c0" /><Relationship Type="http://schemas.openxmlformats.org/officeDocument/2006/relationships/notesMaster" Target="/ppt/notesMasters/notesMaster1.xml" Id="Rba1243d3743b4b9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fe0b1dac0734c44" /><Relationship Type="http://schemas.openxmlformats.org/officeDocument/2006/relationships/notesMaster" Target="/ppt/notesMasters/notesMaster1.xml" Id="R615326452f2f492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ab8d80354b2439f" /><Relationship Type="http://schemas.openxmlformats.org/officeDocument/2006/relationships/notesMaster" Target="/ppt/notesMasters/notesMaster1.xml" Id="Rf9297a599e9540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d7616812d943e2" /><Relationship Type="http://schemas.openxmlformats.org/officeDocument/2006/relationships/notesMaster" Target="/ppt/notesMasters/notesMaster1.xml" Id="R0e0aecccaf4341e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2f0551aeaf4288" /><Relationship Type="http://schemas.openxmlformats.org/officeDocument/2006/relationships/notesMaster" Target="/ppt/notesMasters/notesMaster1.xml" Id="Rba0be8c2a583450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41a44565874e0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c0f348116a4087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1ce192eb794bb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43cc0cead24ea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21280e81f64e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b4611c47f9401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106af09feb4275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c8a0a431ae444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5c46ec091c4ba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609ed49ee425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9f8ac55021478e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1EB0B99-1A1D-45A5-98F8-2E9BAB4C0F1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238D0BC-E3F3-40A6-8084-9B5336354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FBCBF7C-15E9-4DAC-88DB-D107F2C0DB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6882B4C-10DB-4822-85D6-92C0A686210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D1E60A7-63D3-4291-B487-7A379F3EC33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724E57-21BD-4C6A-8CCA-28784F71E6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89CC2C92-8CDA-4F11-AE18-EC93E94727E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725EE1-A1D9-45F8-BC3A-818441BFCDA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8E14F8-0FE5-44DE-8387-EFFDB97E765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C7A5A3E-6ED0-41D3-80A8-2F8214D7FD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423D857-2CA2-4802-B9A2-874378E31D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4D67C7E-407A-4E53-A48B-5B7A3EB972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B2D612-DDA0-4972-980B-D2DDF48D229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964032F-8525-40C6-828C-40EB117AA9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83533E2-37B0-452F-97CD-F81BB1247D4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AF753E-301F-41F9-AA06-B50B826D762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91834E8-B9A2-4A21-8970-C70104185F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760F6D2-5B8E-4676-B35D-4436220B157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D624EDD-933F-45C6-9991-0FE95CA89A9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F4AA1CE-2BFB-4C63-9AE7-5E058761BF1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C5FD369-4215-4CE8-94F3-143A44E3277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E554B78-E13D-4B2D-8AEA-A3B82B1F2C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EBB72AB-2A23-4887-938F-4492B3460CA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DFE7F1D-0524-4C6D-B05C-A932E3C2E53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AF16B30-9ADB-450C-A271-4864CFF687F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E1BA1C27-9561-4306-B987-19C2911E685A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12834C3C-FCF8-4ECE-B794-9CA00060E0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F634A144-E614-4C02-9517-3773A6F8D7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D3E0006-79ED-44D0-8094-BB09373468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2ED8D81-FB76-4883-805E-B43550B229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7CB3466-FEBE-4F0F-ACBF-BA6E70009FC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476D425-9A96-40A5-99F3-5E82AF04AAB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E4D31DB-9F0A-416C-B8C2-966B6E4418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2D4723D-5656-4323-BBDB-311972C20CD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E7B4EBC-F0ED-4F5D-ABC4-1BD4EEEA1D7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3923D1D-DB4D-4241-8A71-8EAB03A8611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3ED959-63D6-49BB-A403-6474EC801E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B09898B-FC19-42FF-9F64-0EA5D9F14C9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5AC31AE-4AF2-4A37-97F2-9789A90251C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AB4150E-A24D-4A5D-B033-ADC42015646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D1BC7C5-F44B-4802-A5B5-8E7BC8E8B1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73D3D28-3EAC-4C8B-A4FF-1B11EC71C19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F77C318-342B-414B-B60C-5FFC14F3A1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742341A0-DBEE-48EA-A2D7-02AF45A7013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D64C5E1-1A2C-4725-8413-8E76294F6A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5F5827B4-5BE6-4C84-990B-960E20013D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B3F5215-524E-4162-9570-941B6AE2E7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21241EF-A1F1-4D91-8C9A-D881D51D41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51680A-B5D7-45F7-B99C-52427072DD3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B8E43DE9-B535-4E6C-9D6A-D99C175B71E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B3B6F80-893E-45B6-9FB0-09E2EC4FBF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4D8EC8D-979F-4988-87B6-AAB8970911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35AD9CB-A14B-4A40-96F3-C453F297CB7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52C4942-D6E0-4848-AFFA-5839E3147D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B654BA0-FF00-40BC-917C-BD2D39BE98B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6AAD8F-D0FD-44EC-9F5E-468B5C5C65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23094EE-A158-4A9C-B028-50BE97037D1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CE400BB-45E1-4CC6-A7BD-2DA5346C7F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081a911db84341" /><Relationship Type="http://schemas.openxmlformats.org/officeDocument/2006/relationships/slideLayout" Target="/ppt/slideLayouts/slideLayout1.xml" Id="Rf9fb52d7ee584b62" /><Relationship Type="http://schemas.openxmlformats.org/officeDocument/2006/relationships/slideLayout" Target="/ppt/slideLayouts/slideLayout2.xml" Id="Rdb14cda6cff94dd8" /><Relationship Type="http://schemas.openxmlformats.org/officeDocument/2006/relationships/slideLayout" Target="/ppt/slideLayouts/slideLayout3.xml" Id="R4d4dc25add654762" /><Relationship Type="http://schemas.openxmlformats.org/officeDocument/2006/relationships/slideLayout" Target="/ppt/slideLayouts/slideLayout4.xml" Id="Rfdd9fbf94dd14450" /><Relationship Type="http://schemas.openxmlformats.org/officeDocument/2006/relationships/slideLayout" Target="/ppt/slideLayouts/slideLayout5.xml" Id="R8e165ed738df478c" /><Relationship Type="http://schemas.openxmlformats.org/officeDocument/2006/relationships/slideLayout" Target="/ppt/slideLayouts/slideLayout6.xml" Id="Re8e42f8dede346f4" /><Relationship Type="http://schemas.openxmlformats.org/officeDocument/2006/relationships/slideLayout" Target="/ppt/slideLayouts/slideLayout7.xml" Id="R1f7d2f9be39e497d" /><Relationship Type="http://schemas.openxmlformats.org/officeDocument/2006/relationships/slideLayout" Target="/ppt/slideLayouts/slideLayout8.xml" Id="Rc6d3645bcdd749e3" /><Relationship Type="http://schemas.openxmlformats.org/officeDocument/2006/relationships/slideLayout" Target="/ppt/slideLayouts/slideLayout9.xml" Id="R33cad50fb6444f8f" /><Relationship Type="http://schemas.openxmlformats.org/officeDocument/2006/relationships/slideLayout" Target="/ppt/slideLayouts/slideLayout10.xml" Id="Re908a0ec21714886" /><Relationship Type="http://schemas.openxmlformats.org/officeDocument/2006/relationships/slideLayout" Target="/ppt/slideLayouts/slideLayout11.xml" Id="R7c847464a72f458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F5852DA4-2991-41B7-892E-0858F4CC6A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AEE6A74-3932-4397-8E48-5D62815E99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D6EBF6E9-73F0-43BD-80C1-6315164D000B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10/5/2026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8EC1809-690C-4E82-8A9F-0E832A540C9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7D3FA9E-5A82-4283-9663-F995D57C39B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9fb52d7ee584b62"/>
    <p:sldLayoutId xmlns:r="http://schemas.openxmlformats.org/officeDocument/2006/relationships" id="2147483650" r:id="Rdb14cda6cff94dd8"/>
    <p:sldLayoutId xmlns:r="http://schemas.openxmlformats.org/officeDocument/2006/relationships" id="2147483651" r:id="R4d4dc25add654762"/>
    <p:sldLayoutId xmlns:r="http://schemas.openxmlformats.org/officeDocument/2006/relationships" id="2147483652" r:id="Rfdd9fbf94dd14450"/>
    <p:sldLayoutId xmlns:r="http://schemas.openxmlformats.org/officeDocument/2006/relationships" id="2147483653" r:id="R8e165ed738df478c"/>
    <p:sldLayoutId xmlns:r="http://schemas.openxmlformats.org/officeDocument/2006/relationships" id="2147483654" r:id="Re8e42f8dede346f4"/>
    <p:sldLayoutId xmlns:r="http://schemas.openxmlformats.org/officeDocument/2006/relationships" id="2147483655" r:id="R1f7d2f9be39e497d"/>
    <p:sldLayoutId xmlns:r="http://schemas.openxmlformats.org/officeDocument/2006/relationships" id="2147483656" r:id="Rc6d3645bcdd749e3"/>
    <p:sldLayoutId xmlns:r="http://schemas.openxmlformats.org/officeDocument/2006/relationships" id="2147483657" r:id="R33cad50fb6444f8f"/>
    <p:sldLayoutId xmlns:r="http://schemas.openxmlformats.org/officeDocument/2006/relationships" id="2147483658" r:id="Re908a0ec21714886"/>
    <p:sldLayoutId xmlns:r="http://schemas.openxmlformats.org/officeDocument/2006/relationships" id="2147483659" r:id="R7c847464a72f4584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f25773322e741d3" /><Relationship Type="http://schemas.openxmlformats.org/officeDocument/2006/relationships/image" Target="/ppt/media/image.png" Id="R2013c1815c074944" /><Relationship Type="http://schemas.openxmlformats.org/officeDocument/2006/relationships/notesSlide" Target="/ppt/notesSlides/notesSlide1.xml" Id="R6ee35727a5eb4f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a02f9b574264e38" /><Relationship Type="http://schemas.openxmlformats.org/officeDocument/2006/relationships/image" Target="/ppt/media/image.png" Id="R521e3c28327c48e6" /><Relationship Type="http://schemas.openxmlformats.org/officeDocument/2006/relationships/notesSlide" Target="/ppt/notesSlides/notesSlide2.xml" Id="R4b6bc60dad5441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26a1854620f4498" /><Relationship Type="http://schemas.openxmlformats.org/officeDocument/2006/relationships/image" Target="/ppt/media/image2.png" Id="R1906e4398ab240ba" /><Relationship Type="http://schemas.openxmlformats.org/officeDocument/2006/relationships/notesSlide" Target="/ppt/notesSlides/notesSlide3.xml" Id="Rfee7e9ca76794c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a859bbdaaa64b22" /><Relationship Type="http://schemas.openxmlformats.org/officeDocument/2006/relationships/image" Target="/ppt/media/image2.png" Id="Rc4bcc83c9162404f" /><Relationship Type="http://schemas.openxmlformats.org/officeDocument/2006/relationships/notesSlide" Target="/ppt/notesSlides/notesSlide4.xml" Id="Rae48489a9edd46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aab2114580471c" /><Relationship Type="http://schemas.openxmlformats.org/officeDocument/2006/relationships/image" Target="/ppt/media/image2.png" Id="Rf3aeaaf4148c402a" /><Relationship Type="http://schemas.openxmlformats.org/officeDocument/2006/relationships/notesSlide" Target="/ppt/notesSlides/notesSlide5.xml" Id="Rf3f62b714a9a45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0fada97fa584273" /><Relationship Type="http://schemas.openxmlformats.org/officeDocument/2006/relationships/image" Target="/ppt/media/image2.png" Id="Rd7bc70c9296e4e3c" /><Relationship Type="http://schemas.openxmlformats.org/officeDocument/2006/relationships/notesSlide" Target="/ppt/notesSlides/notesSlide6.xml" Id="R6b20fc35d1c448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3c0fb44f8074550" /><Relationship Type="http://schemas.openxmlformats.org/officeDocument/2006/relationships/image" Target="/ppt/media/image2.png" Id="R30d2a411893140a8" /><Relationship Type="http://schemas.openxmlformats.org/officeDocument/2006/relationships/notesSlide" Target="/ppt/notesSlides/notesSlide7.xml" Id="R8c98f80fe675480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56d44cdfc0b4da3" /><Relationship Type="http://schemas.openxmlformats.org/officeDocument/2006/relationships/image" Target="/ppt/media/image2.png" Id="R83787f3723ae4a77" /><Relationship Type="http://schemas.openxmlformats.org/officeDocument/2006/relationships/notesSlide" Target="/ppt/notesSlides/notesSlide8.xml" Id="R418d281ee7f345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7cad253c09c4ec1" /><Relationship Type="http://schemas.openxmlformats.org/officeDocument/2006/relationships/image" Target="/ppt/media/image2.png" Id="R79d8f38ddb694a2d" /><Relationship Type="http://schemas.openxmlformats.org/officeDocument/2006/relationships/notesSlide" Target="/ppt/notesSlides/notesSlide9.xml" Id="R707a85b9e7bd47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cc07750a4404e69" /><Relationship Type="http://schemas.openxmlformats.org/officeDocument/2006/relationships/image" Target="/ppt/media/image2.png" Id="R7660584ba367438f" /><Relationship Type="http://schemas.openxmlformats.org/officeDocument/2006/relationships/notesSlide" Target="/ppt/notesSlides/notesSlide10.xml" Id="R7e81625db2524ad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002c00485e243a2" /><Relationship Type="http://schemas.openxmlformats.org/officeDocument/2006/relationships/image" Target="/ppt/media/image2.png" Id="R8537a7ef1b664961" /><Relationship Type="http://schemas.openxmlformats.org/officeDocument/2006/relationships/notesSlide" Target="/ppt/notesSlides/notesSlide11.xml" Id="Rc5bf233a174547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a453d7cfef3429a" /><Relationship Type="http://schemas.openxmlformats.org/officeDocument/2006/relationships/image" Target="/ppt/media/image2.png" Id="R3fc831cc94794ed6" /><Relationship Type="http://schemas.openxmlformats.org/officeDocument/2006/relationships/notesSlide" Target="/ppt/notesSlides/notesSlide12.xml" Id="R978a2ff629fa46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2e63fb98ed94aef" /><Relationship Type="http://schemas.openxmlformats.org/officeDocument/2006/relationships/image" Target="/ppt/media/image2.png" Id="R2631d2becdb04cfe" /><Relationship Type="http://schemas.openxmlformats.org/officeDocument/2006/relationships/notesSlide" Target="/ppt/notesSlides/notesSlide13.xml" Id="R1a763d7918df440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5870f2f49c24b4a" /><Relationship Type="http://schemas.openxmlformats.org/officeDocument/2006/relationships/image" Target="/ppt/media/image2.png" Id="R8ac285ffb439489c" /><Relationship Type="http://schemas.openxmlformats.org/officeDocument/2006/relationships/notesSlide" Target="/ppt/notesSlides/notesSlide14.xml" Id="R8e944c6b12ac4d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6b5d6cfa15e406f" /><Relationship Type="http://schemas.openxmlformats.org/officeDocument/2006/relationships/image" Target="/ppt/media/image2.png" Id="R229d6da5e43d4425" /><Relationship Type="http://schemas.openxmlformats.org/officeDocument/2006/relationships/notesSlide" Target="/ppt/notesSlides/notesSlide15.xml" Id="Re45dd8b0a5bf40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702B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C69D09-CEDA-40B8-BE05-CB35A0932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5679D0F-3F9D-406D-A9EA-0D8F8B369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325880"/>
            <a:ext cx="109728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00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B000"/>
                </a:solidFill>
                <a:latin typeface="Arial"/>
                <a:ea typeface="Arial"/>
                <a:cs typeface="Arial"/>
              </a:rPr>
              <a:t>Tema 2.6 Arreglos y Programación Orientada a Objetos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DB6AABC2-FD9D-4406-889E-2AD3CD02E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770632"/>
            <a:ext cx="109728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Pipelines, encapsulación y composición</a:t>
            </a: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94BCD1EC-02C6-4EBF-AA98-024ACEE4F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429000"/>
            <a:ext cx="50292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Fundamentos de JavaScript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73E77B4-13BF-4CF2-9463-B13A9219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212080"/>
            <a:ext cx="8961120" cy="579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Prof. Bernabé Daniel Inche Ticlavilca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833DF7D-0B1F-4562-A63D-218433D6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5715000"/>
            <a:ext cx="5943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Escuela de Tecnología – IDAT</a:t>
            </a:r>
          </a:p>
        </p:txBody>
      </p:sp>
      <p:pic>
        <p:nvPicPr>
          <p:cNvPr id="1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13c1815c0749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44200" y="5166360"/>
            <a:ext cx="804672" cy="12070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2880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702B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99177C4-1F95-4893-9635-15394FA2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FFFF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EF0BD22-063C-4DF2-BF6E-CB502165E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9966960" cy="27203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Procesaremos colecciones con transformaciones declarativas y modelaremos entidades que protejan reglas del dominio. La sesión conecta reduce, Map, clases, objetos valor y estrategias.</a:t>
            </a:r>
          </a:p>
        </p:txBody>
      </p:sp>
      <p:sp>
        <p:nvSpPr>
          <p:cNvPr id="4" name="Rounded Rectangle 3">
            <a:extLst xmlns:a="http://schemas.openxmlformats.org/drawingml/2006/main">
              <a:ext uri="{FF2B5EF4-FFF2-40B4-BE49-F238E27FC236}">
                <a16:creationId xmlns:a16="http://schemas.microsoft.com/office/drawing/2014/main" id="{EAE38637-431E-4E4D-9A48-2318D48B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211" y="4892040"/>
            <a:ext cx="1417320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61FBE"/>
          </a:solidFill>
          <a:ln xmlns:a="http://schemas.openxmlformats.org/drawingml/2006/main">
            <a:solidFill>
              <a:srgbClr val="561F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4079163-356A-47B3-814E-906C8B1B7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0211" y="4965192"/>
            <a:ext cx="141732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map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7ADE6BD-5642-46B0-BA27-8C2C686B4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699" y="4892040"/>
            <a:ext cx="1417320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61FBE"/>
          </a:solidFill>
          <a:ln xmlns:a="http://schemas.openxmlformats.org/drawingml/2006/main">
            <a:solidFill>
              <a:srgbClr val="561F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D823D5A-8B07-4DD0-86FF-ABCC7940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699" y="4965192"/>
            <a:ext cx="141732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reduce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0DD8E3F0-B061-40F6-AD76-50F8E146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187" y="4892040"/>
            <a:ext cx="1417320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61FBE"/>
          </a:solidFill>
          <a:ln xmlns:a="http://schemas.openxmlformats.org/drawingml/2006/main">
            <a:solidFill>
              <a:srgbClr val="561F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0B4B391-DA34-480D-9741-03742B74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7187" y="4965192"/>
            <a:ext cx="141732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class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44435A2-0DA1-4308-BDBA-87D95159C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675" y="4892040"/>
            <a:ext cx="1417320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61FBE"/>
          </a:solidFill>
          <a:ln xmlns:a="http://schemas.openxmlformats.org/drawingml/2006/main">
            <a:solidFill>
              <a:srgbClr val="561F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237DDA7-FBF6-4E76-BDBE-577D4A4DC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5675" y="4965192"/>
            <a:ext cx="141732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private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7F377BF-B299-4A2A-92BB-08BA18080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163" y="4892040"/>
            <a:ext cx="1417320" cy="42062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561FBE"/>
          </a:solidFill>
          <a:ln xmlns:a="http://schemas.openxmlformats.org/drawingml/2006/main">
            <a:solidFill>
              <a:srgbClr val="561F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E68C0A8-BE82-4FEE-99B1-ACD4E892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4163" y="4965192"/>
            <a:ext cx="1417320" cy="2514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B000"/>
                </a:solidFill>
                <a:latin typeface="Arial"/>
                <a:ea typeface="Arial"/>
                <a:cs typeface="Arial"/>
              </a:defRPr>
            </a:pPr>
            <a:r>
              <a:t>composición</a:t>
            </a:r>
          </a:p>
        </p:txBody>
      </p:sp>
      <p:pic>
        <p:nvPicPr>
          <p:cNvPr id="27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e3c28327c48e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44200" y="5349240"/>
            <a:ext cx="804672" cy="12070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215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F0EA06D-0E73-436E-86ED-562671392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9A73388-F486-4285-BCA5-9F2912B54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De datos a modelo de dominio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51A4624-6EEB-4C9B-BB8A-FDFD20D1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Transformar colecciones antes de construir entidades.</a:t>
            </a:r>
          </a:p>
        </p:txBody>
      </p:sp>
      <p:pic>
        <p:nvPicPr>
          <p:cNvPr id="2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06e4398ab240b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CFBCDD1-B75C-4C3D-8241-D38BC522D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6420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Tipo de gráfico: flujo conceptual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2134404-37CC-4B74-9721-56AB513A6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48840"/>
            <a:ext cx="251460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84EACD-C157-4D2D-8BC0-02B7FB36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377440"/>
            <a:ext cx="242316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Entrada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A77D99DB-9D47-4B54-839D-EDCEEAC5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2651760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02BE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ADB0501-F6FD-4900-BF92-7D21E2FC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5848" y="2148840"/>
            <a:ext cx="251460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A6DAE71-4616-4EA0-BF46-95950E08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1568" y="2377440"/>
            <a:ext cx="242316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Normalizar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8E1DE5E0-9548-4008-BC0F-CD28C0D15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0448" y="2651760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02BE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0161FE-A244-4747-9267-7597FB995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2148840"/>
            <a:ext cx="251460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3BB4418-B7FC-4B81-BDD5-D9DE3FFF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9048" y="2377440"/>
            <a:ext cx="242316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Agrupar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9D224F81-C48C-455E-B41E-94FE3FCAB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7928" y="2651760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02BE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0500418-EEF9-4464-9CF3-5257571AD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0808" y="2148840"/>
            <a:ext cx="2514600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DE7CB411-EDD2-4DCD-9EF8-887DDAFA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6528" y="2377440"/>
            <a:ext cx="242316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Modelar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1BEDF2B-4FF5-42EF-90F9-7E4BE2B63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49039"/>
            <a:ext cx="1046988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3978695-4F09-4766-B290-9E36F2D88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3657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Interpretación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2D2DDC7-F649-42C8-A242-D01067FE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9784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Los métodos de arreglo expresan intención.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67F8C5F-6C4C-439E-A0FF-B9F44856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99432"/>
            <a:ext cx="9784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Las clases protegen invariantes.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D13DF30-3F08-416E-BFC6-AF6AFF28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46904"/>
            <a:ext cx="9784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La composición conecta políticas intercambiables.</a:t>
            </a:r>
          </a:p>
        </p:txBody>
      </p:sp>
    </p:spTree>
    <p:extLst>
      <p:ext uri="{BB962C8B-B14F-4D97-AF65-F5344CB8AC3E}">
        <p14:creationId xmlns:p14="http://schemas.microsoft.com/office/powerpoint/2010/main" val="8731781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6B6362C-7125-4E85-BBC3-89B6DAF2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768C66D-134B-46C9-AEC7-EC210075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Pipeline de transformación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74E5639F-BEDE-4A6A-9A4A-DA7BEA74E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Cada etapa mantiene una responsabilidad verificable.</a:t>
            </a:r>
          </a:p>
        </p:txBody>
      </p:sp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bcc83c916240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2BE3033-BEB6-429E-90F2-B655BD49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91640"/>
            <a:ext cx="580644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28ED199-8121-403B-8963-D333D060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65376"/>
            <a:ext cx="5440680" cy="348721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catalogo = productos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.filter(producto =&gt;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producto.activo &amp;&amp; producto.stock &gt; 0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.map(producto =&gt; ({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id: producto.id,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nombre: producto.nombre.trim(),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subtotal: producto.precio * producto.stock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}))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.toSorted((a, b) =&gt;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b.subtotal - a.subtotal ||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a.nombre.localeCompare(b.nombre, "es")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463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console.table(catalogo);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5BFD578-281E-4B1C-8E0C-3E3B74DF2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719072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9E33343-5BB5-4CEC-8FFD-AC3EDE068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792224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filter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172D774-D158-4998-88DB-5FE8C8CE8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048255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selecciona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1E9A4FDE-EED6-4038-A443-796FEBFA0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066543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81AF572-C926-47BC-8667-2E14B2BED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596896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7FE5EDC-0C4F-4948-9336-0C3A89DDD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670048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map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414E797-804E-4F7D-A8CF-EFEB1960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926079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transforma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E45EB794-73FC-473A-B567-C21ADA65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44368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D24EFD2-B475-471D-A130-CCE99CD37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74720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73DDCCD-55B0-4ED3-92C2-A75890D9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547872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toSorted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B44AD54-2F1A-4147-87E3-79B63AD5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803904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ordena sin mutar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16F7DA8B-47B6-40B9-A603-7CF28622F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822191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776A75F4-0453-4BC8-9819-77283346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52544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65AFDFD-611A-409E-BCC9-36474F9F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425696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pipeline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48164AE-3F88-433A-8C2C-D0751341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681728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etapas legibles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DD3BA1F1-A3AE-443D-9414-37228EBD2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700016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2D116E8-FCFB-4064-93AE-A69BCEAB8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8D139100-576D-4E18-92F2-DD41B43F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Un pipeline expresa qué ocurre sin administrar índices manualmente.</a:t>
            </a:r>
          </a:p>
        </p:txBody>
      </p:sp>
    </p:spTree>
    <p:extLst>
      <p:ext uri="{BB962C8B-B14F-4D97-AF65-F5344CB8AC3E}">
        <p14:creationId xmlns:p14="http://schemas.microsoft.com/office/powerpoint/2010/main" val="12862357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A6FD950-4D1F-4E63-8F08-6EA54804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368EC42-848E-432A-8C93-45796DCA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Agregación y agrupación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E00A586-2BED-4A1B-9C6A-76B58DF6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reduce puede producir métricas y grupos en un único recorrido.</a:t>
            </a:r>
          </a:p>
        </p:txBody>
      </p:sp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aeaaf4148c40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9C64D23-B86E-4289-BB45-9605C9B0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91640"/>
            <a:ext cx="580644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D25F446-770E-4C0B-ABAA-8579EBAE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65376"/>
            <a:ext cx="5440680" cy="300609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const resumen = items.reduce((acc, item) =&gt;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subtotal = item.precio * item.cantidad;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acc.total += subtotal;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acc.unidades += item.cantidad;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 categoria = item.categoria ?? "SIN_CATEGORIA";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acc.porCategoria[categoria] ??= { total: 0, unidades: 0 };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acc.porCategoria[categoria].total += subtotal;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acc.porCategoria[categoria].unidades += item.cantidad;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return acc;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},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total: 0,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unidades: 0,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porCategoria: {}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console.dir(resumen, { depth: null });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135BE2C-41BD-4497-AFF1-64805898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719072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805A14B-556B-4B59-8AF5-8C02362DD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792224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acumulador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9E97AF0-8758-4885-8BAF-C7799349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048255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forma estable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1796C833-2A79-4624-A686-B969A3F06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066543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AFF08E00-88B1-4C13-813F-CC6E5719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596896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3C0B6164-9E64-4430-9C2D-CF0D42EEA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670048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subtotal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264F712-3EB4-463C-A89C-59B1A3C63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926079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métrica local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66DD2A0D-1930-4991-84CD-D93BDF1E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44368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3E59E26-D114-4A1A-94D7-C52D5A3C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74720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ED61990-0D80-4A85-BEC5-2460EA1B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547872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agrupación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1A84283-CC34-4E91-8C8A-E21EBA5A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803904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clave dinámica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698592BD-AB3A-4061-9A04-1E98DC0C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822191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CCD84CC-0281-47B7-AB15-2C5E4005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52544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36DE6E0F-56FB-4824-AEF8-398B1458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425696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reduce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C18456A-337E-47EE-9BEE-FDAE87ED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681728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un resultado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1B044BC7-EF23-4234-AE74-B62703AE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700016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4D7CA16-5BA5-4833-849B-920942AE3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7BAFA60-D4A1-4148-8536-5B598B8F5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Reduce es adecuado cuando el acumulador tiene un contrato claro y estable.</a:t>
            </a:r>
          </a:p>
        </p:txBody>
      </p:sp>
    </p:spTree>
    <p:extLst>
      <p:ext uri="{BB962C8B-B14F-4D97-AF65-F5344CB8AC3E}">
        <p14:creationId xmlns:p14="http://schemas.microsoft.com/office/powerpoint/2010/main" val="9082823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16C668B-9B2E-4E33-8396-B05C7A56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A885EF3-77F3-4625-90A4-84A918D3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Métodos de arreglos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BC4AD9E1-52FC-4B76-8FBB-0B78B22E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Elegir el método según el resultado esperado.</a:t>
            </a:r>
          </a:p>
        </p:txBody>
      </p:sp>
      <p:pic>
        <p:nvPicPr>
          <p:cNvPr id="6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c70c9296e4e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D004C4C-DAC6-4BF4-88ED-F691657A7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645920"/>
            <a:ext cx="21945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A5F9CF7-C015-4D08-8C92-2F874A24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" y="1764792"/>
            <a:ext cx="21214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Método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6D1432F-8501-4324-A929-25655345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1645920"/>
            <a:ext cx="21945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FEA92FFE-F8EF-4AA4-9457-6E3E74A56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056" y="1764792"/>
            <a:ext cx="21214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Resultado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03FD302-E189-48C9-B382-00608654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645920"/>
            <a:ext cx="21945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EBE086D-240D-4114-8221-666E18073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28616" y="1764792"/>
            <a:ext cx="21214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Longitud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4F0E7B2-4EFE-4081-96A0-BAA459D5B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599" y="1645920"/>
            <a:ext cx="21945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8018C58-9CF2-4D47-9C91-8CDD97330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3175" y="1764792"/>
            <a:ext cx="21214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Cortocircuito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EAADD4A-CB0F-4EB5-904C-9889BACE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645920"/>
            <a:ext cx="2194560" cy="5029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433D089-DF39-4E62-9C62-27CF4F8A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7736" y="1764792"/>
            <a:ext cx="2121408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Uso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DC8196E2-5D4B-4321-9C45-6A3359A22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148840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729EFB7-4860-43FD-B916-EEE066B3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231136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map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965417-5645-42EC-811E-3A6DA2FB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148840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09D682CF-78EF-4C5F-8DA3-13843C50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2231136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Arreglo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AE1687E-E3D5-4A51-9A2F-6F017296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148840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1D254AE-3CFE-422A-9E52-776C0B89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2231136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Igual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E973CAD-2310-49DC-8AD4-8925E41C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599" y="2148840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9A3E48D-F423-4D72-B162-5352D2F4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1" y="2231136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No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E8805495-50A2-4388-8F69-BDD8DEE90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148840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5F9157D6-EE45-4BEB-A7F8-DD142C52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231136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Transformar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9C9DDD87-2FCD-4A3D-BBE7-FEBE6F36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2679192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904CEB0-3C8D-4762-95CD-DBB7AE0F5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2761488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filter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8B3B9482-0F0C-40F1-ADB1-C1FD8686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2679192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5FE2786-93F5-4140-B3D6-1D652AD02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2761488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Arreglo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E98EEB7A-02C3-48A2-B779-2415B4077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2679192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448AC45-7641-46D5-9AD3-A9D6EFF3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2761488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Variable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6BF17015-5A20-4EDE-B64D-9421FFE9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599" y="2679192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15F649C-7C3D-4DF3-B98D-773656E4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1" y="2761488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No</a:t>
            </a:r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3D3DFA11-16E9-4949-AF57-A90748351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2679192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C4CFA6D9-668D-46AA-B2C8-02261CE5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2761488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Seleccionar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B8829A84-83A5-4BF5-8FFE-8E2C7B44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209544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DFD2C433-D634-4339-9871-B57E4FFF4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291840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find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32EEC863-E214-4B32-B083-51F942A49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209544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B0E97961-AC62-447C-B4C3-22EE6812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3291840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Elemento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8DB9FD1D-76AB-40BF-ADC4-DC83D4725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209544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ECC48417-1C79-4686-8B24-AD40F90D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291840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—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526BBCF1-6565-4202-869B-8B183A01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599" y="3209544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8A150727-B942-4FE3-8721-47FA71760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1" y="3291840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Sí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CDB37DC8-B2C6-470A-91CC-4B37C001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209544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F3D5A549-5547-4EB5-AFD2-93F1B3A11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3291840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Buscar uno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00897FD8-2F9C-4E0B-9929-6F5D85C2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739896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D27CA6FD-8CED-4322-8BAD-095795185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352" y="3822191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reduce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14E06A91-8D9B-4544-A0E1-45D930D2E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7480" y="3739896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A3E88D27-5D55-4732-951B-105A082C0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3822191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Cualquier tipo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34E4EBCA-4D40-42FF-84DD-4371ED8D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739896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E7BF3001-99FA-45A6-BAAF-83501861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3822191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—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65814636-CFDD-4D1C-BF46-2F5CDEB40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599" y="3739896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EC5FD1B6-2557-4483-B2E8-8A79899B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4031" y="3822191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No</a:t>
            </a:r>
          </a:p>
        </p:txBody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D95FD1FB-055A-4AFE-BBC6-708C476E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739896"/>
            <a:ext cx="2194560" cy="530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14C30226-3EE8-4747-9BA0-060CE1C86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8592" y="3822191"/>
            <a:ext cx="2139696" cy="289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00" b="0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Agregar</a:t>
            </a:r>
          </a:p>
        </p:txBody>
      </p:sp>
      <p:sp>
        <p:nvSpPr>
          <p:cNvPr id="56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FB3C507E-CC2D-4B37-8841-668D8DF8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A0A19ECD-094B-4219-9913-5A331518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El método correcto comunica la intención y reduce errores de control manual.</a:t>
            </a:r>
          </a:p>
        </p:txBody>
      </p:sp>
    </p:spTree>
    <p:extLst>
      <p:ext uri="{BB962C8B-B14F-4D97-AF65-F5344CB8AC3E}">
        <p14:creationId xmlns:p14="http://schemas.microsoft.com/office/powerpoint/2010/main" val="110078621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8ED469F-0EE1-4825-ABD2-14CE9BAA5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9C0F36A-D1B6-4FC6-818D-1A8254C00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Clase con invariantes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A52339B4-C227-4010-ACFE-ED72FAA8F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El constructor impide crear entidades en estados inválidos.</a:t>
            </a:r>
          </a:p>
        </p:txBody>
      </p:sp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2a411893140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34DFE44-3AE6-4E0D-976A-4FF4097CA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91640"/>
            <a:ext cx="580644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C84892F-A7FE-4825-A541-D7527A60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65376"/>
            <a:ext cx="5440680" cy="324185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class Producto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#stock;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constructor({ codigo, nombre, precio, stock = 0 })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if (!codigo?.trim()) throw new TypeError("Código requerido");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if (!nombre?.trim()) throw new TypeError("Nombre requerido");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if (!Number.isFinite(precio) || precio &lt; 0)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throw new RangeError("Precio inválido");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this.codigo = codigo.trim().toUpperCase();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this.nombre = nombre.trim();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this.precio = precio;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this.stock = stock;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set stock(valor) {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if (!Number.isInteger(valor) || valor &lt; 0) throw new RangeError();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this.#stock = valor;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get stock() { return this.#stock; }</a:t>
            </a:r>
          </a:p>
          <a:p xmlns:a="http://schemas.openxmlformats.org/drawingml/2006/main">
            <a:pPr algn="l">
              <a:buNone/>
              <a:defRPr sz="18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F3BC63F-A6CC-4F35-B789-1E61A93A2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719072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18931FE-016A-4D29-8B1C-3DFE57B6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792224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constructor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A870643-80D8-49D6-8FBD-F7F58D8D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048255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estado válido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F7EB771A-08C5-45D8-A255-6CCC0C8F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066543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4C9CF16-66CA-4715-8A2B-239B43476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596896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A842628-27E6-4631-90CE-7944E204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670048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#stock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AF8DCCD-6F5C-47DB-9FD6-F4654835E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926079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encapsulación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DE60CF1E-8295-4B47-B0D2-E3CC8F4C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44368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DD68E96-7625-4DBB-8B2B-966AFC881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74720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62F3FFF-590A-471C-806A-27664041A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547872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setter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1DC8366-8E0C-4E32-A590-5899D386D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803904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protege regla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EADA2D73-845F-4440-9975-641B3E2B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822191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409A062-79E8-4BC3-B060-AB564E4D3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52544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D8A403DF-41C3-4FEF-8A77-AD9D2F9F4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425696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getter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0FA9979-27D4-4E3F-8353-AD9F2A949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681728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lectura controlada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576714B2-2EC7-42CB-AEB9-C8D5E2E72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700016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BE25696-65B7-448B-97C6-937241D9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87BAF21-A583-4B51-A8BF-8DB8FD44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Una entidad válida desde su creación reduce comprobaciones repetidas en otras capas.</a:t>
            </a:r>
          </a:p>
        </p:txBody>
      </p:sp>
    </p:spTree>
    <p:extLst>
      <p:ext uri="{BB962C8B-B14F-4D97-AF65-F5344CB8AC3E}">
        <p14:creationId xmlns:p14="http://schemas.microsoft.com/office/powerpoint/2010/main" val="1998328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0FFA55E-6524-44AD-AF20-509C8BCB5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EFEF34E-E8CE-4754-9E39-313BC641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Objeto valor Dinero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55C20676-EE48-4709-A072-F6A36F7F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Un objeto valor es inmutable y se compara por sus componentes.</a:t>
            </a:r>
          </a:p>
        </p:txBody>
      </p:sp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87f3723ae4a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4C093DB-FA20-49DD-9604-4F56F026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91640"/>
            <a:ext cx="580644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9B8F006-0930-4BB4-9618-A792CFAB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65376"/>
            <a:ext cx="5440680" cy="33604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class Dinero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constructor(centimos, moneda = "PEN")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if (!Number.isInteger(centimos))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throw new TypeError("Centimos enteros requeridos");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this.centimos = centimos;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this.moneda = moneda;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Object.freeze(this);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sumar(otro)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if (!(otro instanceof Dinero)) throw new TypeError();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if (otro.moneda !== this.moneda)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throw new Error("Monedas incompatibles");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}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return new Dinero(this.centimos + otro.centimos, this.moneda);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equals(otro)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return otro instanceof Dinero &amp;&amp;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otro.centimos === this.centimos &amp;&amp;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otro.moneda === this.moneda;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C34FEB2-B9BD-4077-8310-B58C0475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719072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F1784DB-BA6A-407D-A916-B11CA027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792224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valor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3F61C3C-7B90-4153-B4AB-187CB261B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048255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sin identidad propia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B746F49B-C89B-4CC3-B301-D71DC0796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066543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8C47AAF-42CF-4278-AEE9-A061097BD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596896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5D93BF9-0C49-40D7-ADD2-AEDC8D5DB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670048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freeze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2E9C7B9-B721-459F-88B7-96A08121E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926079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inmutable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34694FEA-5DB3-4AA2-8F44-3DCA1E476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44368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789A718F-DCFB-48DB-90CB-B7806A556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74720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273A27A-4455-46EB-91BB-4EB0B54B2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547872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sumar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0874170A-7AE7-448F-958D-1EC437C9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803904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retorna nuevo objeto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678BF69B-F453-4C09-9A74-F6AE2131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822191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E707B95E-B888-4785-81FB-63E53DDE1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52544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4DF69B7-24F1-4997-8FF4-E03962A2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425696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equals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0B31512-4A4D-427F-AB17-E3245046D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681728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compara componentes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A89B7918-03C6-44C4-BB1C-2546E5C0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700016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8231F734-34B1-4087-884C-93B08D0FA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1560303-188A-47AE-8E87-124374A8F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Los objetos valor hacen explícitas unidades y reglas que un number no puede expresar.</a:t>
            </a:r>
          </a:p>
        </p:txBody>
      </p:sp>
    </p:spTree>
    <p:extLst>
      <p:ext uri="{BB962C8B-B14F-4D97-AF65-F5344CB8AC3E}">
        <p14:creationId xmlns:p14="http://schemas.microsoft.com/office/powerpoint/2010/main" val="164721518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37A1B4-E228-49B8-A0D2-20AE55CBF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0B7AC18-F3D8-4AAC-B31F-AE4B02B22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Pedido y estrategias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3D90B87-DF65-4E2C-8EE2-5B28DEDA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La composición inyecta políticas de descuento e impuesto.</a:t>
            </a:r>
          </a:p>
        </p:txBody>
      </p:sp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8f38ddb694a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C42544E-8E99-4D7F-9E2B-23641CCC0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691640"/>
            <a:ext cx="580644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9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F8943D6-0A0A-4535-B896-B478B69C0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865376"/>
            <a:ext cx="5440680" cy="3407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class CalculadorPedido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constructor({ descuento, impuesto })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this.descuento = descuento;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this.impuesto = impuesto;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calcular(items) 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const subtotal = items.reduce(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(suma, item) =&gt; suma + item.subtotal,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0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const descontado = this.descuento.aplicar(subtotal);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const tributo = this.impuesto.calcular(descontado);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return Object.freeze({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subtotal,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descuento: subtotal - descontado,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impuesto: tributo,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    total: descontado + tributo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    });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    }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161616"/>
                </a:solidFill>
                <a:latin typeface="Consolas"/>
                <a:ea typeface="Consolas"/>
                <a:cs typeface="Consolas"/>
              </a:defRPr>
            </a:pPr>
            <a:r>
              <a:rPr sz="1088" b="0">
                <a:solidFill>
                  <a:srgbClr val="161616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B961B0D-23F2-4934-A43C-20037891F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1719072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BA7A384-83A9-4502-AB77-12E98F9AC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1792224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estrategia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EF44AD2-F688-46C6-8571-58832BA79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048255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regla intercambiable</a:t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9498035B-65BC-48B9-A6F4-1ACCECEE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066543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5777348-C7F4-4664-B0E1-057707E29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596896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E7046621-1A41-4444-B0AC-C8B75370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670048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inyección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3303CC6-030C-435C-A96E-E7D33D75D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2926079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dependencia externa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974E92BE-B0F6-40DC-B090-C6ADE3F8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2944368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6913820-2B8B-445A-8860-19AD3EE09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474720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51F40C6-E13A-4C20-8DD0-76E54403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547872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reduce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732FBC29-A7BC-4AD4-A1DA-5F8CB9C92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3803904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calcula subtotal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D65950E7-D8CE-4972-998D-0375D1C1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3822191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ACB0B46-043C-4CF9-B0AB-1D6B82AB9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4352544"/>
            <a:ext cx="4343400" cy="69494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24141E8-CD93-4908-9329-1125C1C1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425696"/>
            <a:ext cx="4041648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resultado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42678BB-A952-4155-9900-E5B8E47E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6288" y="4681728"/>
            <a:ext cx="4041648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resumen inmutable</a:t>
            </a:r>
          </a:p>
        </p:txBody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A7C516F2-3A86-4A31-B2B5-6D13AABF4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2512" y="4700016"/>
            <a:ext cx="32004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FFB00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1B2FA4BE-51FE-47E8-B74A-B7AAEFDD4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248635CF-1CE2-465E-8F83-156AD09F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La composición permite cambiar políticas sin modificar la entidad principal.</a:t>
            </a:r>
          </a:p>
        </p:txBody>
      </p:sp>
    </p:spTree>
    <p:extLst>
      <p:ext uri="{BB962C8B-B14F-4D97-AF65-F5344CB8AC3E}">
        <p14:creationId xmlns:p14="http://schemas.microsoft.com/office/powerpoint/2010/main" val="7541195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F47E600-B6D3-4B1F-AA18-9FB2A2FF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6B55747-0B04-4501-8109-E7D8A573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Ciclo de una entidad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ACEC17E-4E5A-4140-B044-530D3AB9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Toda transición debe preservar invariantes.</a:t>
            </a:r>
          </a:p>
        </p:txBody>
      </p:sp>
      <p:pic>
        <p:nvPicPr>
          <p:cNvPr id="3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60584ba36743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DD2789E-55D5-4727-9E5B-30A54AD5B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664208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Tipo de gráfico: flujo conceptual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F808141-31F0-4F79-8535-857A4EC7B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48840"/>
            <a:ext cx="1975103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870F9CC-AD04-4015-AD82-06C3F60C5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" y="2377440"/>
            <a:ext cx="1883663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Crear</a:t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C3384C53-BBE2-441A-806C-94173E6B9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472" y="2651760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02BE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8798F54-EF3B-495E-B362-C771ADD2F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6352" y="2148840"/>
            <a:ext cx="1975103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F8F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5033C7C-5E03-468A-98E7-DF07F881E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2072" y="2377440"/>
            <a:ext cx="1883663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Validar</a:t>
            </a:r>
          </a:p>
        </p:txBody>
      </p:sp>
      <p:sp>
        <p:nvSpPr>
          <p:cNvPr id="12" name="Connector 11">
            <a:extLst xmlns:a="http://schemas.openxmlformats.org/drawingml/2006/main">
              <a:ext uri="{FF2B5EF4-FFF2-40B4-BE49-F238E27FC236}">
                <a16:creationId xmlns:a16="http://schemas.microsoft.com/office/drawing/2014/main" id="{BF20C1E6-B62E-4A51-B06F-54A99200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456" y="2651760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02BE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EB66C47-9C09-48F8-A5BF-B31A45E2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4336" y="2148840"/>
            <a:ext cx="1975103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8F1565E9-2736-4DFB-8D3C-6742798CB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0055" y="2377440"/>
            <a:ext cx="1883663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Operar</a:t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FE256099-161B-4AFD-A7DE-ABD1C6A44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0" y="2651760"/>
            <a:ext cx="182880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02BE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10D7F56-7B2F-44EB-8325-4B2DF694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19" y="2148840"/>
            <a:ext cx="1975103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6B4860BB-F0A2-422D-BFA6-965BCF93C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39" y="2377440"/>
            <a:ext cx="1883663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Confirmar</a:t>
            </a:r>
          </a:p>
        </p:txBody>
      </p:sp>
      <p:sp>
        <p:nvSpPr>
          <p:cNvPr id="18" name="Connector 17">
            <a:extLst xmlns:a="http://schemas.openxmlformats.org/drawingml/2006/main">
              <a:ext uri="{FF2B5EF4-FFF2-40B4-BE49-F238E27FC236}">
                <a16:creationId xmlns:a16="http://schemas.microsoft.com/office/drawing/2014/main" id="{CAE99062-14E8-4A8F-95E4-147E039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7424" y="2651760"/>
            <a:ext cx="182879" cy="0"/>
          </a:xfrm>
          <a:prstGeom xmlns:a="http://schemas.openxmlformats.org/drawingml/2006/main" prst="line">
            <a:avLst/>
          </a:prstGeom>
          <a:ln xmlns:a="http://schemas.openxmlformats.org/drawingml/2006/main" w="31750">
            <a:solidFill>
              <a:srgbClr val="702BE9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FABEA75-8193-499C-9E6E-1CA4F25A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0303" y="2148840"/>
            <a:ext cx="1975103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EEE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E1C58C96-DF1C-4831-A1AF-2B4DB19AB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024" y="2377440"/>
            <a:ext cx="1883663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Serializar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DB4339F-903B-46AC-A7F0-D3971CC2B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49039"/>
            <a:ext cx="10469880" cy="14813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55628CA-6E5B-47CE-BAB8-531BE9ED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3657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Interpretación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0C1B87B8-2024-4BE1-A9B3-5B0B7BDB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251960"/>
            <a:ext cx="9784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El constructor impide estados inválidos.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A0DCD97-812D-4F4B-A0D2-47646697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599432"/>
            <a:ext cx="9784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Los métodos controlan cada cambio.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E5D5E4B0-F77D-422A-AD6F-1583EF50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46904"/>
            <a:ext cx="9784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La salida no debe exponer estado mutable interno.</a:t>
            </a:r>
          </a:p>
        </p:txBody>
      </p:sp>
    </p:spTree>
    <p:extLst>
      <p:ext uri="{BB962C8B-B14F-4D97-AF65-F5344CB8AC3E}">
        <p14:creationId xmlns:p14="http://schemas.microsoft.com/office/powerpoint/2010/main" val="163737174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2CEF8F-EBDB-447B-8083-2D06ECC8C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68C0CF7-52E3-4797-A59B-3D222BAA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Herencia vs composición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7927960-183A-40ED-9E11-EC6CEA68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Especialización rígida o colaboración flexible.</a:t>
            </a:r>
          </a:p>
        </p:txBody>
      </p:sp>
      <p:pic>
        <p:nvPicPr>
          <p:cNvPr id="2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7a7ef1b6649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B8418F7-EFFC-4256-B020-450ACBB59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45920"/>
            <a:ext cx="5257800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22EED9F-C88C-45AE-AC90-5F2893A45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645920"/>
            <a:ext cx="5257800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9966291-B32E-4725-9B3C-3A7721FD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847088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Herencia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9F6C2625-0F32-4D99-9469-AEA28E107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47088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Composición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C85DBDD-F2B8-4E53-9DE0-B6C23112F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31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Relación es-un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32C8B39-4954-4B1B-9459-D2AC405F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60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Sustitución válida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398072FE-E61E-45D3-8FE3-D217B02DC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Comportamiento compartido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1CCBBC2-9953-46FB-9F9B-82F820DA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192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Jerarquía acoplada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740B2AE-FDFC-4594-BCEE-0AFA7334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4231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Relación tiene-un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9EE028C-F8C0-4E52-8D56-C646A10A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9260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Estrategias inyectables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5077B9E-00D4-44CE-A02F-5B17D0B81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4290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Fácil de probar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DF6605A-E328-46D1-AAA4-5F5D5E95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93192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Cambios localizados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FDEF1C5-BF87-4222-9887-E1BFFB42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3866399-7849-4FD2-9B48-1912A2B5C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Prefiere composición cuando la relación no representa una especialización real.</a:t>
            </a:r>
          </a:p>
        </p:txBody>
      </p:sp>
    </p:spTree>
    <p:extLst>
      <p:ext uri="{BB962C8B-B14F-4D97-AF65-F5344CB8AC3E}">
        <p14:creationId xmlns:p14="http://schemas.microsoft.com/office/powerpoint/2010/main" val="56028514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3E0D23-1CFF-4E25-A959-BCE358F44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949ADEF2-4615-453B-B379-A196EEF3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Entidad vs objeto valor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E5431D64-BAA6-4127-B018-EB94B8A5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Identidad persistente o igualdad por componentes.</a:t>
            </a:r>
          </a:p>
        </p:txBody>
      </p:sp>
      <p:pic>
        <p:nvPicPr>
          <p:cNvPr id="2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c831cc94794e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9A19BAF-B32B-489D-8EDE-92DFBACC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645920"/>
            <a:ext cx="5257800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C783385-EE2E-4A59-8B59-9DE94C272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645920"/>
            <a:ext cx="5257800" cy="37033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6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67717960-D33F-4957-9040-7990E633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" y="1847088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Entidad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F174B90-2917-4001-A26E-76E79C25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1847088"/>
            <a:ext cx="475488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Objeto valor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36153D6-1F63-4408-9BE4-A1F976544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31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Identidad estable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8A59DB2-E4A6-4B37-8DBE-562B391E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60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Estado evoluciona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C520C14-8760-4932-8506-0383B845F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Igualdad por ID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D794CFD-20BD-4B95-845B-DAD3208A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3192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Protege transiciones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6E174EE-B46E-449B-A618-D53A1862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42316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Sin identidad independiente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8B076E0-4CF6-43FC-B351-3F5126D2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29260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Inmutable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CE773122-A0B0-40A6-A481-2C36B8CB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42900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Igualdad por componentes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D153347-5787-466D-8E5D-EFA8033DC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2" y="393192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• Modela unidad o concepto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B0D6C56A-9EB4-423F-A397-2843CD38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2E5861EA-1B8A-4CE7-B0D6-98851F792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Distinguir ambos modelos mejora el diseño del dominio y la serialización.</a:t>
            </a:r>
          </a:p>
        </p:txBody>
      </p:sp>
    </p:spTree>
    <p:extLst>
      <p:ext uri="{BB962C8B-B14F-4D97-AF65-F5344CB8AC3E}">
        <p14:creationId xmlns:p14="http://schemas.microsoft.com/office/powerpoint/2010/main" val="131591170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5014EFE-05B3-4D52-86BC-F1721F14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E2B1651-5E09-4477-9FA4-2A6AFE4F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Recursos para profundizar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FADB6695-7252-4D49-970F-3662C89B1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Documentación oficial recomendada para continuar después de clase</a:t>
            </a:r>
          </a:p>
        </p:txBody>
      </p:sp>
      <p:pic>
        <p:nvPicPr>
          <p:cNvPr id="2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31d2becdb04cf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0CF9C46-80A2-402F-96BC-E02712B3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508760"/>
            <a:ext cx="105156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A16556BC-F3E1-4089-9AC6-87247C65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600200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MDN: Array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F415878-7426-4654-A8D7-6196188F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1901952"/>
            <a:ext cx="5486400" cy="262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t>https://developer.mozilla.org/docs/Web/JavaScript/Reference/Global_Objects/Array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E254824C-82F1-479C-A1A6-87C92368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655063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Métodos de colecciones.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DDDAE74-37AC-44AE-A992-3F399E9F5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2441448"/>
            <a:ext cx="105156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CFC01E15-97B6-4DD8-A6E0-D1AEA636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532888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MDN: Classes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D0087FE-9221-45BE-858F-1D72C988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2834640"/>
            <a:ext cx="5486400" cy="262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t>https://developer.mozilla.org/docs/Web/JavaScript/Reference/Classes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83D1DF7-9D2B-40B7-BEF9-59B1C60B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87752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Clases y campos privados.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DACBEB75-9D1B-4A6E-9BD7-81C16E86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3374136"/>
            <a:ext cx="10515600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DADAE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069C602E-5735-4ECF-99FB-DCCC424F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465576"/>
            <a:ext cx="2743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JavaScript.info: Class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96BF290-CE6E-4FBE-9C25-7D8F82457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" y="3767328"/>
            <a:ext cx="5486400" cy="2621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0" b="0">
                <a:solidFill>
                  <a:srgbClr val="525252"/>
                </a:solidFill>
                <a:latin typeface="Consolas"/>
                <a:ea typeface="Consolas"/>
                <a:cs typeface="Consolas"/>
              </a:defRPr>
            </a:pPr>
            <a:r>
              <a:t>https://javascript.info/classes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172E35C-67B5-4F61-8FE6-E397EB86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520440"/>
            <a:ext cx="429768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Patrones y ejemplos.</a:t>
            </a:r>
          </a:p>
        </p:txBody>
      </p:sp>
    </p:spTree>
    <p:extLst>
      <p:ext uri="{BB962C8B-B14F-4D97-AF65-F5344CB8AC3E}">
        <p14:creationId xmlns:p14="http://schemas.microsoft.com/office/powerpoint/2010/main" val="3000209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3020F34-911F-4151-B9B1-92C76351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777BD7-90C5-40F5-96E1-F69B62C3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Actividad Complementaria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35990A15-22D7-416D-ACE6-B98EAE0A1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Sistema de pedidos</a:t>
            </a:r>
          </a:p>
        </p:txBody>
      </p:sp>
      <p:pic>
        <p:nvPicPr>
          <p:cNvPr id="3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c285ffb43948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4908AC5-62CC-4DEC-B9C7-435A67F5E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508760"/>
            <a:ext cx="22860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Objetivo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EBF9CD9-6100-4461-A781-F217F6E0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847088"/>
            <a:ext cx="987552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Modelar pedidos mediante colecciones, entidades y estrategias.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24FFEF8-6C68-45C9-AC08-A5C4521FC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14600"/>
            <a:ext cx="2286000" cy="4267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Pasos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1DBB600-753B-47AC-BFF8-376E17B5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0360"/>
            <a:ext cx="43891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AEA24F3-FF95-4460-A8D7-06BD5F34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4368"/>
            <a:ext cx="438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D6A1072F-5A2E-410B-896C-571F10593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2898648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Definir Producto e ItemPedido.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DB20490-A58C-4AAD-ADAF-CA7BE693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2424"/>
            <a:ext cx="43891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3ECBDD9-D490-4AFF-B196-6822CA7F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6432"/>
            <a:ext cx="438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47A7A0D-ECD5-4732-A5D0-CB9C87E8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410712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Proteger cantidades y stock.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3B61583-6EE0-4A5F-9BDD-52045535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4487"/>
            <a:ext cx="43891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80D828D-0111-4A16-8C58-4938E435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8496"/>
            <a:ext cx="438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1AEEE59-DC59-45DF-B421-2EC0345C1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3922775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Implementar estrategias de descuento.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B4B92D8-B68C-4677-B8BF-D28FD8FFA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16552"/>
            <a:ext cx="43891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EE40DF6-2819-458F-91B7-30D9D8E4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0560"/>
            <a:ext cx="438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4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4BB0CAC4-D6E8-4C49-AFD6-934371A2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434840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Calcular con reduce.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06750773-C7BA-4F31-9FB9-F12908D87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8616"/>
            <a:ext cx="438912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B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4EA436C-2482-4519-9650-6086DEA1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2624"/>
            <a:ext cx="438912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5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EFC5E775-657B-42AF-A423-B3507DC6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4946904"/>
            <a:ext cx="78638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Probar invariantes y serialización.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A829AC62-39A0-44DB-A2ED-B03864AA1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577840"/>
            <a:ext cx="717804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5E947C7-5CA4-42B8-A539-96C70D8E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742432"/>
            <a:ext cx="672084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Entrega: modelo + pruebas + diagrama de clases.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098BEA7-F253-443B-B29A-01D53BA0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5577840"/>
            <a:ext cx="269748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9BEB8219-8D64-4A10-9FD9-324BEB58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5742432"/>
            <a:ext cx="2697480" cy="350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Tiempo: 120 min</a:t>
            </a:r>
          </a:p>
        </p:txBody>
      </p:sp>
    </p:spTree>
    <p:extLst>
      <p:ext uri="{BB962C8B-B14F-4D97-AF65-F5344CB8AC3E}">
        <p14:creationId xmlns:p14="http://schemas.microsoft.com/office/powerpoint/2010/main" val="16010836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67CE70C-B44C-4797-AD14-E42408A26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384048"/>
            <a:ext cx="1097280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337C9B9-029C-4C53-A7E3-72E46B3F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8368"/>
            <a:ext cx="1115568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4000" b="1">
                <a:solidFill>
                  <a:srgbClr val="702BE9"/>
                </a:solidFill>
                <a:latin typeface="Arial"/>
                <a:ea typeface="Arial"/>
                <a:cs typeface="Arial"/>
              </a:defRPr>
            </a:pPr>
            <a:r>
              <a:t>Consultas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C2DA04CB-8A2F-47CB-8FDB-0D9950285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43584"/>
            <a:ext cx="10515600" cy="396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525252"/>
                </a:solidFill>
                <a:latin typeface="Arial"/>
                <a:ea typeface="Arial"/>
                <a:cs typeface="Arial"/>
              </a:defRPr>
            </a:pPr>
            <a:r>
              <a:t>Preguntas guía para repasar antes de la práctica:</a:t>
            </a:r>
          </a:p>
        </p:txBody>
      </p:sp>
      <p:pic>
        <p:nvPicPr>
          <p:cNvPr id="2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9d6da5e43d44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835640" y="5504688"/>
            <a:ext cx="749808" cy="1124712"/>
          </a:xfrm>
          <a:prstGeom xmlns:a="http://schemas.openxmlformats.org/drawingml/2006/main" prst="rect">
            <a:avLst/>
          </a:prstGeom>
        </p:spPr>
      </p:pic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590FA2C-4E66-4B58-8567-7A574F99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2024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209FAB7-8CFF-4E20-B6BD-7848DD43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993392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1866171-3A64-4022-A732-96A389C2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1901952"/>
            <a:ext cx="420624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¿Cuándo usar map, filter o reduce?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D6493F87-9A59-400A-BF5F-9A20B4191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2024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801AF83-A630-499B-B6A2-71DF1436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1993392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B0D0884-C40F-4321-BFD2-6EC6A20A4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7" y="1901952"/>
            <a:ext cx="420624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¿Qué protege un campo privado?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47F2A82-F352-45D8-907C-BEA841C5F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52044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B0190483-278C-47BA-89A2-30F178D14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593592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74C5D53-7B81-4E20-9625-7006FAE9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8488" y="3502152"/>
            <a:ext cx="420624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¿Qué diferencia entidad y objeto valor?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D706040-00F7-4229-9AF6-A30F5DDF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520440"/>
            <a:ext cx="457200" cy="4754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2604D28C-8DB9-48A7-AB9B-01B6A42DA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3640" y="3593592"/>
            <a:ext cx="45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?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6949B5F-E7A4-43CD-B3D6-AE03DC0C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2007" y="3502152"/>
            <a:ext cx="4206240" cy="701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00" b="1">
                <a:solidFill>
                  <a:srgbClr val="161616"/>
                </a:solidFill>
                <a:latin typeface="Arial"/>
                <a:ea typeface="Arial"/>
                <a:cs typeface="Arial"/>
              </a:defRPr>
            </a:pPr>
            <a:r>
              <a:t>¿Cuándo conviene composición?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A1E23AE-F506-4534-AD9B-600D1B89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650992"/>
            <a:ext cx="10195560" cy="5669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02BE9"/>
          </a:solidFill>
          <a:ln xmlns:a="http://schemas.openxmlformats.org/drawingml/2006/main">
            <a:solidFill>
              <a:srgbClr val="702BE9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DF2F14C-2F6E-4C47-A45E-559959616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992124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t>Los arreglos procesan colecciones; la POO protege reglas y comportamiento del dominio.</a:t>
            </a:r>
          </a:p>
        </p:txBody>
      </p:sp>
    </p:spTree>
    <p:extLst>
      <p:ext uri="{BB962C8B-B14F-4D97-AF65-F5344CB8AC3E}">
        <p14:creationId xmlns:p14="http://schemas.microsoft.com/office/powerpoint/2010/main" val="1136457241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2026-10-06T12:48:45.0400000Z</dcterms:created>
  <dcterms:modified xsi:type="dcterms:W3CDTF">2026-10-06T12:48:45.0400000Z</dcterms:modified>
</coreProperties>
</file>