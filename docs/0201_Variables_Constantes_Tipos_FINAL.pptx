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52E7-2676-4062-BC61-572B26266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3FBE0-70E1-4363-BBEF-B770AF41B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16D95-1B70-40F1-A41E-B726983612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2791C-15BE-4134-A0DE-8CFC4FB264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82DF4-562D-4640-BB6B-7F90E8E110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039E-F718-48A5-BA31-986BD3EE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3A726-11C6-4128-BAE2-09B223557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79B8C-5CBF-4ABB-A859-90CC56D606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E471A-E000-4EC5-B6CE-A03EC6B3E3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92156-9062-4D36-8EF4-FA4C86F433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A89C3-60B2-4BAA-B5B7-2D7C7E5E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2360B-CFFE-4BF6-BFDC-95784EC1C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2E165-3A53-4ADD-8300-6A78CA3DA0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C7C7-89B3-4269-B6E5-2943F7A55B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B582-6246-4979-ABD6-290DB5E96E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D781-74FC-4ECD-8165-5D438A98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F284B-586B-40C7-AB39-EF818B95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534ED-C889-4B7B-8758-B6FDE162454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837FD-B81A-4417-A49E-8E0802D377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27A20-27D3-446C-AB27-C72951D1E3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98871-66CE-42E8-985B-A8BCFDBE13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1D16-C9A0-4C8F-AF2B-0765E6D8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2715-10D6-4B05-8015-62F0EE794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1479B-1B92-4500-9F14-DF598464052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B6973C-C49C-4E33-BA5C-896247DCABC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FA7C5-135F-401F-B3FE-2E46B01AF94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ADCC29-B22A-403B-BA0F-D1D4FD7BA1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0227B-A958-4044-BEB6-B934B5F63D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AB63F-F316-416F-A816-144E9D9EFD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AC7D-8145-494A-AC9F-854E4F5A8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DEBEB-33E3-4DF9-A2C4-9FE9096244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72EEA-A954-4132-81FB-4E3E8C79D2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D506F-13E1-4803-ACB4-D6D606B390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CF16BD-FA72-41DC-BD64-D64ABAF683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BF8F63-482B-46CB-BCE3-F281BA60C9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999DF-111D-4FD1-B25E-C938453CC1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9C4B-F1B1-4543-BE1D-C5647E87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25251-B6D5-41A5-9942-473DCDB11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199F1-68C3-49D0-87C4-2E2A7D7208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47D5A-C28E-4EB0-B342-EE1D6E2127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C922A-40F5-4C95-8E6B-1222737DE0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3B76F-0818-4F46-B6DB-F07E98DF85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F58E-6D22-4BED-9CE3-5A52C4FC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92572-E14F-4AF8-A482-9C849F538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B214-92DA-46C8-9341-4D262C4DD77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7449A-249D-4A31-9C87-3065108ACD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E9A54-A0C7-4465-A38B-B04C707324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148E9-52D2-4D26-8362-8C9A9CC6B6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A254-1935-4E75-B613-843E6D64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829A9-0875-4E29-9457-B39F1F2F4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9D786-76FE-49AD-AA6E-7C1B2D56F1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38A04-366B-459B-9F81-E396F5B501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1D924-08E7-42BE-A591-08B6D8D2E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8316ED-24CB-4862-B6AD-9EBAE4666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ADB64-F892-4AFC-87B0-1C5929AC8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CCC47-6761-45F6-9875-F44ABC3560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A38E1-CADD-40CA-9C68-D186F19B0C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15DA3-C3FB-4B25-B8E4-5957242348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2C36E5-B7CA-4A82-802D-7AC9A4E1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35B7E-F55C-4ECE-82D2-2952BD493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E8B77-FCDB-4DEA-94DA-0BC49C5B2E5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0404E-07AC-4976-9396-086F724815E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99A34-E1D7-4E8F-AA67-392A5C030A4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78355E-A3AF-4C9E-99DB-AB7FDC7A6FC6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2A92B-AEE6-4B95-9A65-F6E565B6DB90}"/>
              </a:ext>
            </a:extLst>
          </p:cNvPr>
          <p:cNvSpPr>
            <a:spLocks noGrp="1"/>
          </p:cNvSpPr>
          <p:nvPr/>
        </p:nvSpPr>
        <p:spPr>
          <a:xfrm>
            <a:off x="566928" y="1325880"/>
            <a:ext cx="10972800" cy="1615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500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Tema 2.1 Variables, constantes y tipos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1F7EE-8E7E-4C88-A232-5ED8A28A5557}"/>
              </a:ext>
            </a:extLst>
          </p:cNvPr>
          <p:cNvSpPr>
            <a:spLocks noGrp="1"/>
          </p:cNvSpPr>
          <p:nvPr/>
        </p:nvSpPr>
        <p:spPr>
          <a:xfrm>
            <a:off x="566928" y="27706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Bindings, ámbitos, memoria y tipos dinámicos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B4ACC-D6B3-47CF-A8A1-4179462A80E9}"/>
              </a:ext>
            </a:extLst>
          </p:cNvPr>
          <p:cNvSpPr>
            <a:spLocks noGrp="1"/>
          </p:cNvSpPr>
          <p:nvPr/>
        </p:nvSpPr>
        <p:spPr>
          <a:xfrm>
            <a:off x="566928" y="3429000"/>
            <a:ext cx="50292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Fundamentos de JavaScript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ED50D-D6B0-4327-B0C2-012FE06C9B0F}"/>
              </a:ext>
            </a:extLst>
          </p:cNvPr>
          <p:cNvSpPr>
            <a:spLocks noGrp="1"/>
          </p:cNvSpPr>
          <p:nvPr/>
        </p:nvSpPr>
        <p:spPr>
          <a:xfrm>
            <a:off x="566928" y="5212080"/>
            <a:ext cx="8961120" cy="57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Prof. Bernabé Daniel Inche Ticlavilca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F063A-399D-4B1A-9916-B5DE121AA4F9}"/>
              </a:ext>
            </a:extLst>
          </p:cNvPr>
          <p:cNvSpPr>
            <a:spLocks noGrp="1"/>
          </p:cNvSpPr>
          <p:nvPr/>
        </p:nvSpPr>
        <p:spPr>
          <a:xfrm>
            <a:off x="566928" y="57150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Escuela de Tecnología – IDAT</a:t>
            </a:r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04672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087610-1724-4726-B4DA-71E4DECED4BA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D1B76-18EC-4B8F-BEE6-E934BE581174}"/>
              </a:ext>
            </a:extLst>
          </p:cNvPr>
          <p:cNvSpPr>
            <a:spLocks noGrp="1"/>
          </p:cNvSpPr>
          <p:nvPr/>
        </p:nvSpPr>
        <p:spPr>
          <a:xfrm>
            <a:off x="1143000" y="1600200"/>
            <a:ext cx="9966960" cy="2491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Analizaremos cómo JavaScript resuelve identificadores, administra ámbitos léxicos y representa valores primitivos y referencias. La sesión trabaja TDZ, closures, identidad e inmutabilidad.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1116C7-72F5-47CE-8539-E717E9F0A0E8}"/>
              </a:ext>
            </a:extLst>
          </p:cNvPr>
          <p:cNvSpPr>
            <a:spLocks noGrp="1"/>
          </p:cNvSpPr>
          <p:nvPr/>
        </p:nvSpPr>
        <p:spPr>
          <a:xfrm>
            <a:off x="2150211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1C9F7-410B-44CB-B8CB-1D92598431FF}"/>
              </a:ext>
            </a:extLst>
          </p:cNvPr>
          <p:cNvSpPr>
            <a:spLocks noGrp="1"/>
          </p:cNvSpPr>
          <p:nvPr/>
        </p:nvSpPr>
        <p:spPr>
          <a:xfrm>
            <a:off x="2150211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binding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94DEB0B-6929-4BC3-9592-70086F669C31}"/>
              </a:ext>
            </a:extLst>
          </p:cNvPr>
          <p:cNvSpPr>
            <a:spLocks noGrp="1"/>
          </p:cNvSpPr>
          <p:nvPr/>
        </p:nvSpPr>
        <p:spPr>
          <a:xfrm>
            <a:off x="3768699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6B44B-A5ED-4838-8447-05F2E7E9A200}"/>
              </a:ext>
            </a:extLst>
          </p:cNvPr>
          <p:cNvSpPr>
            <a:spLocks noGrp="1"/>
          </p:cNvSpPr>
          <p:nvPr/>
        </p:nvSpPr>
        <p:spPr>
          <a:xfrm>
            <a:off x="3768699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scope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934E68-487A-469E-9EB4-0E302705663B}"/>
              </a:ext>
            </a:extLst>
          </p:cNvPr>
          <p:cNvSpPr>
            <a:spLocks noGrp="1"/>
          </p:cNvSpPr>
          <p:nvPr/>
        </p:nvSpPr>
        <p:spPr>
          <a:xfrm>
            <a:off x="5387187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5F66F-B151-4DC4-968D-F4C87FCB7226}"/>
              </a:ext>
            </a:extLst>
          </p:cNvPr>
          <p:cNvSpPr>
            <a:spLocks noGrp="1"/>
          </p:cNvSpPr>
          <p:nvPr/>
        </p:nvSpPr>
        <p:spPr>
          <a:xfrm>
            <a:off x="5387187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TDZ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2E8590-A98C-44F9-88E1-1A9221A8ECE9}"/>
              </a:ext>
            </a:extLst>
          </p:cNvPr>
          <p:cNvSpPr>
            <a:spLocks noGrp="1"/>
          </p:cNvSpPr>
          <p:nvPr/>
        </p:nvSpPr>
        <p:spPr>
          <a:xfrm>
            <a:off x="7005675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04F47-C76A-44D5-8812-0C748DDCBA74}"/>
              </a:ext>
            </a:extLst>
          </p:cNvPr>
          <p:cNvSpPr>
            <a:spLocks noGrp="1"/>
          </p:cNvSpPr>
          <p:nvPr/>
        </p:nvSpPr>
        <p:spPr>
          <a:xfrm>
            <a:off x="7005675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typeof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B6A1233-1CD8-4775-A70A-5F8580251CBC}"/>
              </a:ext>
            </a:extLst>
          </p:cNvPr>
          <p:cNvSpPr>
            <a:spLocks noGrp="1"/>
          </p:cNvSpPr>
          <p:nvPr/>
        </p:nvSpPr>
        <p:spPr>
          <a:xfrm>
            <a:off x="8624163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8FF36-F8C4-4BEB-9442-7D311DCEC4AE}"/>
              </a:ext>
            </a:extLst>
          </p:cNvPr>
          <p:cNvSpPr>
            <a:spLocks noGrp="1"/>
          </p:cNvSpPr>
          <p:nvPr/>
        </p:nvSpPr>
        <p:spPr>
          <a:xfrm>
            <a:off x="8624163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referencia</a:t>
            </a:r>
          </a:p>
        </p:txBody>
      </p:sp>
      <p:pic>
        <p:nvPicPr>
          <p:cNvPr id="27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349240"/>
            <a:ext cx="804672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39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28EF2A-DDE8-4ACC-BAB8-0AE7262A6544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B4AFF-C0D5-4C0F-B532-FCB055559115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Modelo de datos en JavaScript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B4ED2-D3BB-46C9-8718-44D1232019CF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Del identificador al comportamiento observable.</a:t>
            </a:r>
          </a:p>
        </p:txBody>
      </p:sp>
      <p:pic>
        <p:nvPicPr>
          <p:cNvPr id="2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DE5BAD-0715-402D-80A1-C09C2E9B3B35}"/>
              </a:ext>
            </a:extLst>
          </p:cNvPr>
          <p:cNvSpPr>
            <a:spLocks noGrp="1"/>
          </p:cNvSpPr>
          <p:nvPr/>
        </p:nvSpPr>
        <p:spPr>
          <a:xfrm>
            <a:off x="658368" y="16642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EE4FF7-A818-4304-A1CB-FEB8C7F4CCAF}"/>
              </a:ext>
            </a:extLst>
          </p:cNvPr>
          <p:cNvSpPr>
            <a:spLocks noGrp="1"/>
          </p:cNvSpPr>
          <p:nvPr/>
        </p:nvSpPr>
        <p:spPr>
          <a:xfrm>
            <a:off x="658368" y="2148840"/>
            <a:ext cx="2514600" cy="987552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18AB5-4BEA-442A-81C4-608A95010CF2}"/>
              </a:ext>
            </a:extLst>
          </p:cNvPr>
          <p:cNvSpPr>
            <a:spLocks noGrp="1"/>
          </p:cNvSpPr>
          <p:nvPr/>
        </p:nvSpPr>
        <p:spPr>
          <a:xfrm>
            <a:off x="70408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Declaración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2DA7F68F-9869-472D-B011-003E28C6B87B}"/>
              </a:ext>
            </a:extLst>
          </p:cNvPr>
          <p:cNvSpPr>
            <a:spLocks noGrp="1"/>
          </p:cNvSpPr>
          <p:nvPr/>
        </p:nvSpPr>
        <p:spPr>
          <a:xfrm>
            <a:off x="317296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6177A8-92FC-4CA3-A2CC-7591C2D5EC56}"/>
              </a:ext>
            </a:extLst>
          </p:cNvPr>
          <p:cNvSpPr>
            <a:spLocks noGrp="1"/>
          </p:cNvSpPr>
          <p:nvPr/>
        </p:nvSpPr>
        <p:spPr>
          <a:xfrm>
            <a:off x="3355848" y="2148840"/>
            <a:ext cx="2514600" cy="9875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413530-9506-4750-AA08-967F60C772E7}"/>
              </a:ext>
            </a:extLst>
          </p:cNvPr>
          <p:cNvSpPr>
            <a:spLocks noGrp="1"/>
          </p:cNvSpPr>
          <p:nvPr/>
        </p:nvSpPr>
        <p:spPr>
          <a:xfrm>
            <a:off x="340156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Binding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829C2A01-DE2F-4DA6-A8B6-BAC643A29614}"/>
              </a:ext>
            </a:extLst>
          </p:cNvPr>
          <p:cNvSpPr>
            <a:spLocks noGrp="1"/>
          </p:cNvSpPr>
          <p:nvPr/>
        </p:nvSpPr>
        <p:spPr>
          <a:xfrm>
            <a:off x="587044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1E96AE-F231-468F-AFA4-820DF2FEFF29}"/>
              </a:ext>
            </a:extLst>
          </p:cNvPr>
          <p:cNvSpPr>
            <a:spLocks noGrp="1"/>
          </p:cNvSpPr>
          <p:nvPr/>
        </p:nvSpPr>
        <p:spPr>
          <a:xfrm>
            <a:off x="6053328" y="2148840"/>
            <a:ext cx="2514600" cy="9875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0B36F9-4BD0-4B1E-B0F3-5FB363BD8F6A}"/>
              </a:ext>
            </a:extLst>
          </p:cNvPr>
          <p:cNvSpPr>
            <a:spLocks noGrp="1"/>
          </p:cNvSpPr>
          <p:nvPr/>
        </p:nvSpPr>
        <p:spPr>
          <a:xfrm>
            <a:off x="609904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Valor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F665DAB9-4BE0-4B9B-A9A0-1DE7CD51F094}"/>
              </a:ext>
            </a:extLst>
          </p:cNvPr>
          <p:cNvSpPr>
            <a:spLocks noGrp="1"/>
          </p:cNvSpPr>
          <p:nvPr/>
        </p:nvSpPr>
        <p:spPr>
          <a:xfrm>
            <a:off x="856792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559F3C-926A-4270-99B0-158C5AF5DED5}"/>
              </a:ext>
            </a:extLst>
          </p:cNvPr>
          <p:cNvSpPr>
            <a:spLocks noGrp="1"/>
          </p:cNvSpPr>
          <p:nvPr/>
        </p:nvSpPr>
        <p:spPr>
          <a:xfrm>
            <a:off x="8750808" y="2148840"/>
            <a:ext cx="2514600" cy="987552"/>
          </a:xfrm>
          <a:prstGeom prst="rect">
            <a:avLst/>
          </a:prstGeom>
          <a:solidFill>
            <a:srgbClr val="FFF6E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E692A8-120E-4D1C-9015-4EF379579E3A}"/>
              </a:ext>
            </a:extLst>
          </p:cNvPr>
          <p:cNvSpPr>
            <a:spLocks noGrp="1"/>
          </p:cNvSpPr>
          <p:nvPr/>
        </p:nvSpPr>
        <p:spPr>
          <a:xfrm>
            <a:off x="879652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Tipo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5EE019-2A5A-4C3B-8510-8B91826A464B}"/>
              </a:ext>
            </a:extLst>
          </p:cNvPr>
          <p:cNvSpPr>
            <a:spLocks noGrp="1"/>
          </p:cNvSpPr>
          <p:nvPr/>
        </p:nvSpPr>
        <p:spPr>
          <a:xfrm>
            <a:off x="658368" y="3749038"/>
            <a:ext cx="10469880" cy="1755649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555ABF-88C1-4E4D-912E-C8972B01C758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657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957286-0E4B-4B0A-818C-63AE3A28CC74}"/>
              </a:ext>
            </a:extLst>
          </p:cNvPr>
          <p:cNvSpPr>
            <a:spLocks noGrp="1"/>
          </p:cNvSpPr>
          <p:nvPr/>
        </p:nvSpPr>
        <p:spPr>
          <a:xfrm>
            <a:off x="960120" y="425196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binding vive en un ámbito léxico.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568B1B-5A37-4EF5-80CA-5EEC448E6E5B}"/>
              </a:ext>
            </a:extLst>
          </p:cNvPr>
          <p:cNvSpPr>
            <a:spLocks noGrp="1"/>
          </p:cNvSpPr>
          <p:nvPr/>
        </p:nvSpPr>
        <p:spPr>
          <a:xfrm>
            <a:off x="960120" y="459943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valor determina el tipo en tiempo de ejecución.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A37BAF-EEE8-4784-A967-4A0B2E9BC40E}"/>
              </a:ext>
            </a:extLst>
          </p:cNvPr>
          <p:cNvSpPr>
            <a:spLocks noGrp="1"/>
          </p:cNvSpPr>
          <p:nvPr/>
        </p:nvSpPr>
        <p:spPr>
          <a:xfrm>
            <a:off x="960120" y="494690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Las referencias comparten objetos mutables.</a:t>
            </a:r>
          </a:p>
        </p:txBody>
      </p:sp>
    </p:spTree>
    <p:extLst>
      <p:ext uri="{BB962C8B-B14F-4D97-AF65-F5344CB8AC3E}">
        <p14:creationId xmlns:p14="http://schemas.microsoft.com/office/powerpoint/2010/main" val="214158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4D12F-7238-4C13-829B-F40A147C8FE6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5A115-FBD0-4495-AEE0-78C723D384F5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Bindings, TDZ y closure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385D1-ABAD-48C2-B39E-88C0635FCF84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La declaración crea un binding; el closure conserva el entorno.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73DE19-D284-44BB-8D6E-D0E3BD312D56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4F9F4-F93D-461A-A3A0-F7A3B9B27F6D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3832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crearSecuencia(prefijo)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let actual = 0;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80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() =&gt;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actual += 1;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`${prefijo}-${actual}`;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80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siguiente = crearSecuencia("MAT");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console.log(siguiente()); // MAT-1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console.log(siguiente()); // MAT-2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A5504C-0B04-412A-9E08-64DA6481071F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6FACE-81E4-4409-A55D-28736647C46E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binding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65A5E-FB6E-4DC3-A753-31422D07E3F6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asocia nombre y valor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217E8EC6-A1F9-4F87-A927-BED5466F4569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EF03DA-3D73-4D50-82BE-06D5124A1663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CED877-1B7C-47E9-9667-728A192787CA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TDZ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E4A7CB-7993-4971-8EDB-B71F90E8942F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bloquea acceso temprano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B329A083-8E7E-4BDD-839A-13DB125F425B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900001-9BFB-43A2-B58C-7FD97D36C053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91C93D-0468-4B26-BEEC-379B9ACCA021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closure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808E1F-6258-474B-ADB9-F6C7EFAB7F9B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conserva el ámbito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EDEE3520-4D39-4876-BB6A-C6DB79021E92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2D7044-9D1A-4732-905B-E4EDCC8219A8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24D3E-01B1-43B4-96C2-D535D0651FB3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let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43F205-6AF7-4311-88B8-422540E57E72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estado reasignable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89B75D30-8EFF-4C8F-B437-5112B38CAD8F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96CB28-85A3-49E6-9DAF-D8F2EB2FCAF7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023B51-9E8A-449A-A855-1F3C5053C8FA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El ámbito se define por la estructura del código, no por el lugar de llamada.</a:t>
            </a:r>
          </a:p>
        </p:txBody>
      </p:sp>
    </p:spTree>
    <p:extLst>
      <p:ext uri="{BB962C8B-B14F-4D97-AF65-F5344CB8AC3E}">
        <p14:creationId xmlns:p14="http://schemas.microsoft.com/office/powerpoint/2010/main" val="214642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060024-FF71-4826-BBE7-7C54EC8E7F9B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86F29-A43F-46DA-940F-2112C43CFB91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BigInt, Symbol y tipos especiales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80FFB-F88E-4BB3-9422-6955E81F657F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Los tipos primitivos tienen reglas de operación e identidad diferentes.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8A20DD-49F1-44F6-BB03-4A73EDE6C345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DB626-3CEE-484B-BD58-8DF259DCEB4B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55473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seguro = Number.MAX_SAFE_INTEGER;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correlativo = BigInt(seguro) + 1n;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57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ID_INTERNO = Symbol("id");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ROL_GLOBAL = Symbol.for("app.rol");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57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usuario =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nombre: "Ana",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[ID_INTERNO]: correlativo,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[ROL_GLOBAL]: "admin"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57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console.log(Object.keys(usuario));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console.log(usuario[ID_INTERNO]);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EDFF7D-6AA9-46CD-BEA2-8FF522DDA042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2F6E9-9C6F-430B-AF84-03E3DE515A65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BigInt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76AE20-A8F3-4669-8BE1-0B0E641122C9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enteros arbitrarios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C3A3CD03-0931-47BA-9951-9D19A961A30E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DC1C34-3720-4E88-8C55-96E3EE2EADDF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CBC5F0-1D6C-4E12-B31A-7037A2E51CC3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Symbol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849321-E9F9-4D63-8693-125AD0AC7280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identidad única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860454F0-C04F-4868-B8DA-FF431D02F680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5C5FCA-E4F9-4403-AB71-71F773B071DD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D80E6-94EC-4D3A-BF8D-4B99B1D95FDC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56B045-28CA-42D0-9A7B-52B794976C7D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number inválido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B64D3655-081E-49D7-BBF8-66F510141CB9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8922AB-9F1D-4A69-8493-A2DC753AD8F0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1440BB-1D8D-493A-B2A7-FDCD74F177B0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null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8BCDE1-1866-49A5-909C-45B367DA0F32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ausencia intencional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18C82C7F-608D-47E5-9DFD-06AF685B71D6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C073A1-25C9-418A-B847-8B1362FB704F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F46817-76A9-434E-BFAF-C5325F5E6D15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Elegir el tipo correcto evita pérdida de precisión y colisiones de propiedades.</a:t>
            </a:r>
          </a:p>
        </p:txBody>
      </p:sp>
    </p:spTree>
    <p:extLst>
      <p:ext uri="{BB962C8B-B14F-4D97-AF65-F5344CB8AC3E}">
        <p14:creationId xmlns:p14="http://schemas.microsoft.com/office/powerpoint/2010/main" val="58857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2FEF3F-F7D4-43E0-9EAD-C9BF64A9030D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A8A40-73E9-4A5A-9FE5-EA1A7C6F1668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Declaraciones y comportamiento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01F57-B4B5-4D58-9793-9E616D251567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Comparación práctica para elegir la declaración correcta.</a:t>
            </a:r>
          </a:p>
        </p:txBody>
      </p:sp>
      <p:pic>
        <p:nvPicPr>
          <p:cNvPr id="6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7A47BF-A6BA-485A-A578-9BBC8F08D986}"/>
              </a:ext>
            </a:extLst>
          </p:cNvPr>
          <p:cNvSpPr>
            <a:spLocks noGrp="1"/>
          </p:cNvSpPr>
          <p:nvPr/>
        </p:nvSpPr>
        <p:spPr>
          <a:xfrm>
            <a:off x="530352" y="1952293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989FB-7B0E-44F3-96E7-870635AF5565}"/>
              </a:ext>
            </a:extLst>
          </p:cNvPr>
          <p:cNvSpPr>
            <a:spLocks noGrp="1"/>
          </p:cNvSpPr>
          <p:nvPr/>
        </p:nvSpPr>
        <p:spPr>
          <a:xfrm>
            <a:off x="566928" y="2071165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Aspecto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775E8-BB5E-4040-BA0E-15AF5782128B}"/>
              </a:ext>
            </a:extLst>
          </p:cNvPr>
          <p:cNvSpPr>
            <a:spLocks noGrp="1"/>
          </p:cNvSpPr>
          <p:nvPr/>
        </p:nvSpPr>
        <p:spPr>
          <a:xfrm>
            <a:off x="2724912" y="1952293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35A29-2083-4732-BC77-2AC30D299AFE}"/>
              </a:ext>
            </a:extLst>
          </p:cNvPr>
          <p:cNvSpPr>
            <a:spLocks noGrp="1"/>
          </p:cNvSpPr>
          <p:nvPr/>
        </p:nvSpPr>
        <p:spPr>
          <a:xfrm>
            <a:off x="2761488" y="2071165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A37486-4491-4A9E-AAD8-8CEF7D2332A4}"/>
              </a:ext>
            </a:extLst>
          </p:cNvPr>
          <p:cNvSpPr>
            <a:spLocks noGrp="1"/>
          </p:cNvSpPr>
          <p:nvPr/>
        </p:nvSpPr>
        <p:spPr>
          <a:xfrm>
            <a:off x="4919472" y="1952293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0C748C-D749-4FEB-A194-5EAFBA07576D}"/>
              </a:ext>
            </a:extLst>
          </p:cNvPr>
          <p:cNvSpPr>
            <a:spLocks noGrp="1"/>
          </p:cNvSpPr>
          <p:nvPr/>
        </p:nvSpPr>
        <p:spPr>
          <a:xfrm>
            <a:off x="4956048" y="2071165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B6558B-18E6-4BB0-94E2-253E5442DD77}"/>
              </a:ext>
            </a:extLst>
          </p:cNvPr>
          <p:cNvSpPr>
            <a:spLocks noGrp="1"/>
          </p:cNvSpPr>
          <p:nvPr/>
        </p:nvSpPr>
        <p:spPr>
          <a:xfrm>
            <a:off x="7114031" y="1952293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7AF7E0-8798-483B-B57B-568318A3ABC1}"/>
              </a:ext>
            </a:extLst>
          </p:cNvPr>
          <p:cNvSpPr>
            <a:spLocks noGrp="1"/>
          </p:cNvSpPr>
          <p:nvPr/>
        </p:nvSpPr>
        <p:spPr>
          <a:xfrm>
            <a:off x="7150607" y="2071165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719A47-72D9-4CDA-A449-671EC7C36FE0}"/>
              </a:ext>
            </a:extLst>
          </p:cNvPr>
          <p:cNvSpPr>
            <a:spLocks noGrp="1"/>
          </p:cNvSpPr>
          <p:nvPr/>
        </p:nvSpPr>
        <p:spPr>
          <a:xfrm>
            <a:off x="9308592" y="1952293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070A58-1BD1-450A-AC3C-8914C9548C58}"/>
              </a:ext>
            </a:extLst>
          </p:cNvPr>
          <p:cNvSpPr>
            <a:spLocks noGrp="1"/>
          </p:cNvSpPr>
          <p:nvPr/>
        </p:nvSpPr>
        <p:spPr>
          <a:xfrm>
            <a:off x="9345168" y="2071165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Criterio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8F74F1-D2E9-4D88-A0F6-982392BF9F1F}"/>
              </a:ext>
            </a:extLst>
          </p:cNvPr>
          <p:cNvSpPr>
            <a:spLocks noGrp="1"/>
          </p:cNvSpPr>
          <p:nvPr/>
        </p:nvSpPr>
        <p:spPr>
          <a:xfrm>
            <a:off x="530352" y="2455213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778A63-B984-4D66-B409-FB4F8276570B}"/>
              </a:ext>
            </a:extLst>
          </p:cNvPr>
          <p:cNvSpPr>
            <a:spLocks noGrp="1"/>
          </p:cNvSpPr>
          <p:nvPr/>
        </p:nvSpPr>
        <p:spPr>
          <a:xfrm>
            <a:off x="557784" y="2537509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Reasignación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60AFAE-1B7F-4B0F-844E-E13446CEDBE9}"/>
              </a:ext>
            </a:extLst>
          </p:cNvPr>
          <p:cNvSpPr>
            <a:spLocks noGrp="1"/>
          </p:cNvSpPr>
          <p:nvPr/>
        </p:nvSpPr>
        <p:spPr>
          <a:xfrm>
            <a:off x="2724912" y="2455213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43FF5-9D92-4E88-8BCB-896CEF53A8C5}"/>
              </a:ext>
            </a:extLst>
          </p:cNvPr>
          <p:cNvSpPr>
            <a:spLocks noGrp="1"/>
          </p:cNvSpPr>
          <p:nvPr/>
        </p:nvSpPr>
        <p:spPr>
          <a:xfrm>
            <a:off x="2752344" y="2537509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6CCD46-5DC0-44B2-916F-BF863178EC74}"/>
              </a:ext>
            </a:extLst>
          </p:cNvPr>
          <p:cNvSpPr>
            <a:spLocks noGrp="1"/>
          </p:cNvSpPr>
          <p:nvPr/>
        </p:nvSpPr>
        <p:spPr>
          <a:xfrm>
            <a:off x="4919472" y="2455213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E44FA-84FD-4CC0-97F4-C54667F23F56}"/>
              </a:ext>
            </a:extLst>
          </p:cNvPr>
          <p:cNvSpPr>
            <a:spLocks noGrp="1"/>
          </p:cNvSpPr>
          <p:nvPr/>
        </p:nvSpPr>
        <p:spPr>
          <a:xfrm>
            <a:off x="4946904" y="2537509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412960-AC8E-4E07-B3A1-6C3607F87F07}"/>
              </a:ext>
            </a:extLst>
          </p:cNvPr>
          <p:cNvSpPr>
            <a:spLocks noGrp="1"/>
          </p:cNvSpPr>
          <p:nvPr/>
        </p:nvSpPr>
        <p:spPr>
          <a:xfrm>
            <a:off x="7114031" y="2455213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E92F58-55FD-445A-AEAB-9B10265E2F14}"/>
              </a:ext>
            </a:extLst>
          </p:cNvPr>
          <p:cNvSpPr>
            <a:spLocks noGrp="1"/>
          </p:cNvSpPr>
          <p:nvPr/>
        </p:nvSpPr>
        <p:spPr>
          <a:xfrm>
            <a:off x="7141463" y="2537509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2134CA-43B6-4FD4-861B-89B44638FB5C}"/>
              </a:ext>
            </a:extLst>
          </p:cNvPr>
          <p:cNvSpPr>
            <a:spLocks noGrp="1"/>
          </p:cNvSpPr>
          <p:nvPr/>
        </p:nvSpPr>
        <p:spPr>
          <a:xfrm>
            <a:off x="9308592" y="2455213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91CE99-C1E0-49B5-B383-321498BAA8D2}"/>
              </a:ext>
            </a:extLst>
          </p:cNvPr>
          <p:cNvSpPr>
            <a:spLocks noGrp="1"/>
          </p:cNvSpPr>
          <p:nvPr/>
        </p:nvSpPr>
        <p:spPr>
          <a:xfrm>
            <a:off x="9336024" y="2537509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Estado variable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E87FBB-CAAF-40F3-8902-11708CDAE1FA}"/>
              </a:ext>
            </a:extLst>
          </p:cNvPr>
          <p:cNvSpPr>
            <a:spLocks noGrp="1"/>
          </p:cNvSpPr>
          <p:nvPr/>
        </p:nvSpPr>
        <p:spPr>
          <a:xfrm>
            <a:off x="530352" y="2985565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5BB7D0-422B-49AE-A24B-69536735B191}"/>
              </a:ext>
            </a:extLst>
          </p:cNvPr>
          <p:cNvSpPr>
            <a:spLocks noGrp="1"/>
          </p:cNvSpPr>
          <p:nvPr/>
        </p:nvSpPr>
        <p:spPr>
          <a:xfrm>
            <a:off x="557784" y="306786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Ámbito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8BD15B-0A69-4F40-9B75-833D1F579E60}"/>
              </a:ext>
            </a:extLst>
          </p:cNvPr>
          <p:cNvSpPr>
            <a:spLocks noGrp="1"/>
          </p:cNvSpPr>
          <p:nvPr/>
        </p:nvSpPr>
        <p:spPr>
          <a:xfrm>
            <a:off x="2724912" y="2985565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4097F1-F4FA-48F0-9C5D-DD16EE1B9D0A}"/>
              </a:ext>
            </a:extLst>
          </p:cNvPr>
          <p:cNvSpPr>
            <a:spLocks noGrp="1"/>
          </p:cNvSpPr>
          <p:nvPr/>
        </p:nvSpPr>
        <p:spPr>
          <a:xfrm>
            <a:off x="2752344" y="306786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Bloque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3984F9-A7C1-4C93-A411-E5CEB56B7016}"/>
              </a:ext>
            </a:extLst>
          </p:cNvPr>
          <p:cNvSpPr>
            <a:spLocks noGrp="1"/>
          </p:cNvSpPr>
          <p:nvPr/>
        </p:nvSpPr>
        <p:spPr>
          <a:xfrm>
            <a:off x="4919472" y="2985565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6B9BDC-9F75-48CC-A20F-C5EEAED45B8A}"/>
              </a:ext>
            </a:extLst>
          </p:cNvPr>
          <p:cNvSpPr>
            <a:spLocks noGrp="1"/>
          </p:cNvSpPr>
          <p:nvPr/>
        </p:nvSpPr>
        <p:spPr>
          <a:xfrm>
            <a:off x="4946904" y="306786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Bloque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81B29D-5853-4D46-8E6F-E5B2A99BA77F}"/>
              </a:ext>
            </a:extLst>
          </p:cNvPr>
          <p:cNvSpPr>
            <a:spLocks noGrp="1"/>
          </p:cNvSpPr>
          <p:nvPr/>
        </p:nvSpPr>
        <p:spPr>
          <a:xfrm>
            <a:off x="7114031" y="2985565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4E71C3-0F97-47AE-850B-589C4731E4CE}"/>
              </a:ext>
            </a:extLst>
          </p:cNvPr>
          <p:cNvSpPr>
            <a:spLocks noGrp="1"/>
          </p:cNvSpPr>
          <p:nvPr/>
        </p:nvSpPr>
        <p:spPr>
          <a:xfrm>
            <a:off x="7141463" y="306786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Función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2EA6BE-5F48-4E47-BF50-0DBD1EA4AADC}"/>
              </a:ext>
            </a:extLst>
          </p:cNvPr>
          <p:cNvSpPr>
            <a:spLocks noGrp="1"/>
          </p:cNvSpPr>
          <p:nvPr/>
        </p:nvSpPr>
        <p:spPr>
          <a:xfrm>
            <a:off x="9308592" y="2985565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FFABF8-9F39-4FB0-B4F7-DF8DD962B002}"/>
              </a:ext>
            </a:extLst>
          </p:cNvPr>
          <p:cNvSpPr>
            <a:spLocks noGrp="1"/>
          </p:cNvSpPr>
          <p:nvPr/>
        </p:nvSpPr>
        <p:spPr>
          <a:xfrm>
            <a:off x="9336024" y="306786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Menor alcance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A75DF7-7818-4EF7-9E24-3B22E0983275}"/>
              </a:ext>
            </a:extLst>
          </p:cNvPr>
          <p:cNvSpPr>
            <a:spLocks noGrp="1"/>
          </p:cNvSpPr>
          <p:nvPr/>
        </p:nvSpPr>
        <p:spPr>
          <a:xfrm>
            <a:off x="530352" y="3515917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ACEAC6-A207-4C40-AADE-590B04453EAE}"/>
              </a:ext>
            </a:extLst>
          </p:cNvPr>
          <p:cNvSpPr>
            <a:spLocks noGrp="1"/>
          </p:cNvSpPr>
          <p:nvPr/>
        </p:nvSpPr>
        <p:spPr>
          <a:xfrm>
            <a:off x="557784" y="3598213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TDZ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B0ADC2-0E2B-406C-8A18-9C9C41AEAEE1}"/>
              </a:ext>
            </a:extLst>
          </p:cNvPr>
          <p:cNvSpPr>
            <a:spLocks noGrp="1"/>
          </p:cNvSpPr>
          <p:nvPr/>
        </p:nvSpPr>
        <p:spPr>
          <a:xfrm>
            <a:off x="2724912" y="3515917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70C376-4EF6-49B7-93F6-8ADDC0440CCF}"/>
              </a:ext>
            </a:extLst>
          </p:cNvPr>
          <p:cNvSpPr>
            <a:spLocks noGrp="1"/>
          </p:cNvSpPr>
          <p:nvPr/>
        </p:nvSpPr>
        <p:spPr>
          <a:xfrm>
            <a:off x="2752344" y="3598213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66D770-FA0B-44F6-9A84-8151AEE93ECA}"/>
              </a:ext>
            </a:extLst>
          </p:cNvPr>
          <p:cNvSpPr>
            <a:spLocks noGrp="1"/>
          </p:cNvSpPr>
          <p:nvPr/>
        </p:nvSpPr>
        <p:spPr>
          <a:xfrm>
            <a:off x="4919472" y="3515917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FF313A-D6A1-4143-A189-551527D53A28}"/>
              </a:ext>
            </a:extLst>
          </p:cNvPr>
          <p:cNvSpPr>
            <a:spLocks noGrp="1"/>
          </p:cNvSpPr>
          <p:nvPr/>
        </p:nvSpPr>
        <p:spPr>
          <a:xfrm>
            <a:off x="4946904" y="3598213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41CCCD-3642-4F56-AB65-35812BBB3556}"/>
              </a:ext>
            </a:extLst>
          </p:cNvPr>
          <p:cNvSpPr>
            <a:spLocks noGrp="1"/>
          </p:cNvSpPr>
          <p:nvPr/>
        </p:nvSpPr>
        <p:spPr>
          <a:xfrm>
            <a:off x="7114031" y="3515917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AB516D-942B-430D-BA96-D6B2F73D3B9A}"/>
              </a:ext>
            </a:extLst>
          </p:cNvPr>
          <p:cNvSpPr>
            <a:spLocks noGrp="1"/>
          </p:cNvSpPr>
          <p:nvPr/>
        </p:nvSpPr>
        <p:spPr>
          <a:xfrm>
            <a:off x="7141463" y="3598213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C105F7-81C7-4702-83AE-EAA543E0B8B2}"/>
              </a:ext>
            </a:extLst>
          </p:cNvPr>
          <p:cNvSpPr>
            <a:spLocks noGrp="1"/>
          </p:cNvSpPr>
          <p:nvPr/>
        </p:nvSpPr>
        <p:spPr>
          <a:xfrm>
            <a:off x="9308592" y="3515917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8040B1-D1C3-4DA5-89EC-80FD5E82B8C9}"/>
              </a:ext>
            </a:extLst>
          </p:cNvPr>
          <p:cNvSpPr>
            <a:spLocks noGrp="1"/>
          </p:cNvSpPr>
          <p:nvPr/>
        </p:nvSpPr>
        <p:spPr>
          <a:xfrm>
            <a:off x="9336024" y="3598213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Falla temprano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EF4C980-5259-40C0-B41F-73DDF0393105}"/>
              </a:ext>
            </a:extLst>
          </p:cNvPr>
          <p:cNvSpPr>
            <a:spLocks noGrp="1"/>
          </p:cNvSpPr>
          <p:nvPr/>
        </p:nvSpPr>
        <p:spPr>
          <a:xfrm>
            <a:off x="530352" y="4046269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D63992-EA3C-462A-8EDF-3A2421DC960D}"/>
              </a:ext>
            </a:extLst>
          </p:cNvPr>
          <p:cNvSpPr>
            <a:spLocks noGrp="1"/>
          </p:cNvSpPr>
          <p:nvPr/>
        </p:nvSpPr>
        <p:spPr>
          <a:xfrm>
            <a:off x="557784" y="412856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Uso moderno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D220892-D545-4ADF-A8FC-8C72EEA2B43B}"/>
              </a:ext>
            </a:extLst>
          </p:cNvPr>
          <p:cNvSpPr>
            <a:spLocks noGrp="1"/>
          </p:cNvSpPr>
          <p:nvPr/>
        </p:nvSpPr>
        <p:spPr>
          <a:xfrm>
            <a:off x="2724912" y="4046269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DD6691-D4F1-4AF8-802C-23A0B8A3CA1C}"/>
              </a:ext>
            </a:extLst>
          </p:cNvPr>
          <p:cNvSpPr>
            <a:spLocks noGrp="1"/>
          </p:cNvSpPr>
          <p:nvPr/>
        </p:nvSpPr>
        <p:spPr>
          <a:xfrm>
            <a:off x="2752344" y="412856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Predeterminado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4FACFD-7965-4447-979C-E367F23B358B}"/>
              </a:ext>
            </a:extLst>
          </p:cNvPr>
          <p:cNvSpPr>
            <a:spLocks noGrp="1"/>
          </p:cNvSpPr>
          <p:nvPr/>
        </p:nvSpPr>
        <p:spPr>
          <a:xfrm>
            <a:off x="4919472" y="4046269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5FAF27-DEC4-4B9F-9E4B-8534CB4E8CFC}"/>
              </a:ext>
            </a:extLst>
          </p:cNvPr>
          <p:cNvSpPr>
            <a:spLocks noGrp="1"/>
          </p:cNvSpPr>
          <p:nvPr/>
        </p:nvSpPr>
        <p:spPr>
          <a:xfrm>
            <a:off x="4946904" y="412856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Cuando cambia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961831-D571-440F-A6A7-440B10FA023F}"/>
              </a:ext>
            </a:extLst>
          </p:cNvPr>
          <p:cNvSpPr>
            <a:spLocks noGrp="1"/>
          </p:cNvSpPr>
          <p:nvPr/>
        </p:nvSpPr>
        <p:spPr>
          <a:xfrm>
            <a:off x="7114031" y="4046269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15AC61-98CC-49E7-AC59-6EA45B56DB79}"/>
              </a:ext>
            </a:extLst>
          </p:cNvPr>
          <p:cNvSpPr>
            <a:spLocks noGrp="1"/>
          </p:cNvSpPr>
          <p:nvPr/>
        </p:nvSpPr>
        <p:spPr>
          <a:xfrm>
            <a:off x="7141463" y="412856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Evitar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C23859A-2217-495C-9879-065262E6C6F9}"/>
              </a:ext>
            </a:extLst>
          </p:cNvPr>
          <p:cNvSpPr>
            <a:spLocks noGrp="1"/>
          </p:cNvSpPr>
          <p:nvPr/>
        </p:nvSpPr>
        <p:spPr>
          <a:xfrm>
            <a:off x="9308592" y="4046269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9EE46D-F1BE-40BA-8B63-D371A48A2561}"/>
              </a:ext>
            </a:extLst>
          </p:cNvPr>
          <p:cNvSpPr>
            <a:spLocks noGrp="1"/>
          </p:cNvSpPr>
          <p:nvPr/>
        </p:nvSpPr>
        <p:spPr>
          <a:xfrm>
            <a:off x="9336024" y="412856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Intención explícita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7C90B95-C908-49E0-87A4-364A8785FF7C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CED288-AAD7-4218-81C2-6F01C50F9AB8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Empieza con const y cambia a let únicamente cuando exista reasignación real.</a:t>
            </a:r>
          </a:p>
        </p:txBody>
      </p:sp>
    </p:spTree>
    <p:extLst>
      <p:ext uri="{BB962C8B-B14F-4D97-AF65-F5344CB8AC3E}">
        <p14:creationId xmlns:p14="http://schemas.microsoft.com/office/powerpoint/2010/main" val="61334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FD63F0-60B8-457E-98CA-E45A97B881BA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24E00-2AEC-4B1E-9B8B-BCA149FE2CA3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Clasificación robusta de valores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C2301-37C5-4348-882D-6983B71237AC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typeof debe combinarse con comprobaciones específicas.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AC3358-1C27-4629-9E4C-B91F53D0CAFE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089C8-BA31-4AF9-BB22-CC14564FF225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3832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tipoReal(valor)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(valor === null) return "null";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(Array.isArray(valor)) return "array";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(valor instanceof Date) return "date";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(valor instanceof Map) return "map";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typeof valor;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casos = [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null, [], new Date(),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new Map(), 10n, () =&gt; {}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];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console.table(casos.map(v =&gt; ({ valor: v, tipo: tipoReal(v) })));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51D7C0-2AB6-40A3-B79D-617F48E371BF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AE44C-8AB6-4041-B086-A7C4C8F549AC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typeof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CC0967-61CB-4843-82C9-FCF7AB8A5C08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tipo general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812F1DB1-0A7A-4BFC-AD84-CDD146DFB96F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2556C0-5763-4D13-BD1F-8A575F958632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CD9223-A998-42F1-BF08-DDB941322937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Array.isArray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AE6459-D1BD-4F7B-8045-E4A6FAF61197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detecta arreglos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443B63CB-9E15-4F08-B1C6-16C58E1377B6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86BBF-CE26-43B7-8092-BC0E7B728171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93AECD-9800-4026-8DAA-038E87BC93BD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instanceof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1539E8-0CF3-4309-BE34-D3DEF0138BB3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comprueba prototipo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CB055D8A-8619-4668-AABD-0BDA2FCEFEC5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69F9C0-6243-48BE-883E-B0E2A98FBF04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B3C837-606C-43C3-A5EE-36588942F5A5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null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D34929-5E0C-4DAF-BB53-1BBB7B957F68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comparación estricta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D72BC26A-F9F5-4ABD-914C-364680D5A939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EA45EF-E776-4513-9416-BFF16F2062D2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1C8D19-9EE9-4C27-820B-936292E6F98A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Una sola comprobación rara vez describe por completo un valor de referencia.</a:t>
            </a:r>
          </a:p>
        </p:txBody>
      </p:sp>
    </p:spTree>
    <p:extLst>
      <p:ext uri="{BB962C8B-B14F-4D97-AF65-F5344CB8AC3E}">
        <p14:creationId xmlns:p14="http://schemas.microsoft.com/office/powerpoint/2010/main" val="172693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824B4B-17FE-40C6-BBB1-7FDFB0E7A831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213633-D7D9-4BF6-B15C-EC57EB2A1093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Referencias, aliasing y copias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58957C-7107-4A38-98EF-431A9C8E892C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Asignar un objeto crea un alias; no duplica su contenido.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BDB4DC-50F6-4611-80F0-080FC8164DF2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AE078-6D8A-4894-A890-1C812F1999CB}"/>
              </a:ext>
            </a:extLst>
          </p:cNvPr>
          <p:cNvSpPr>
            <a:spLocks noGrp="1"/>
          </p:cNvSpPr>
          <p:nvPr/>
        </p:nvSpPr>
        <p:spPr>
          <a:xfrm>
            <a:off x="795528" y="1649578"/>
            <a:ext cx="5440680" cy="372709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original =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sesion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: { </a:t>
            </a: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activa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: true },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reglas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: new Map([["max", 3]]),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creado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: new Date()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63" b="0" dirty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alias = original;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copia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structuredClone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(original);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63" b="0" dirty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alias.sesion.activa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= false;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copia.sesion.activa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= true;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63" b="0" dirty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</a:t>
            </a: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original.sesion.activa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); // false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</a:t>
            </a:r>
            <a:r>
              <a:rPr sz="1463" b="0" dirty="0" err="1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copia.sesion.activa</a:t>
            </a: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);    // true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 dirty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console.log(alias === original);     // true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DCB69B-25E2-44F2-831A-F005403B3579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53CC5C-3C46-4C96-9869-574F849432F7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alias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94AC4-2DDF-49BF-8448-1466DEB0C30C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misma referencia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0E0825F3-03FB-4DC1-A25B-2C8D172022B0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0086A0-1E06-49B7-8D9E-412639433808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73FF9B-95FF-4471-A428-6D5FCA557A9C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spread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D2F2F6-05FC-495B-8C38-C04F6845BEBF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copia superficial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4BB797C3-4305-4701-B050-A046DA1A79DD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81218F-DCD0-4B98-9AD2-2B3FA0AEFFCF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7DD5D5-F33C-469B-B4DB-7C4C49C6F595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structuredClone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286B0F-D4DD-451B-95F6-E9A962AD099F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copia profunda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3738B5EA-FC89-4710-8840-075FD1320223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ACB10D-87C5-4609-839C-F95175B70EA6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DF7C34-9985-4D67-A102-31B09C177198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identidad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84F39C-422E-4FA7-BAD2-C2E553BB8A8F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=== compara referencia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BD619D76-C74B-4873-84A6-E30A9983E529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9E4EA-ED80-42EF-A8EF-F5DF929947BF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8E8CA4-6CF9-464A-A77F-6B2EBA7B9EB1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Antes de mutar, determine quién comparte la referencia y qué debe permanecer aislado.</a:t>
            </a:r>
          </a:p>
        </p:txBody>
      </p:sp>
    </p:spTree>
    <p:extLst>
      <p:ext uri="{BB962C8B-B14F-4D97-AF65-F5344CB8AC3E}">
        <p14:creationId xmlns:p14="http://schemas.microsoft.com/office/powerpoint/2010/main" val="1228219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F04705-27F2-4ADD-952E-1BEAA236A757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07A09-679D-4442-850A-B8ACABCCC539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Inmutabilidad profunda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2C33C5-E324-4540-83A0-F3922823E707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Object.freeze es superficial; un grafo requiere recorrido y control de ciclos.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A1D26B-BB4A-4A43-B322-73058AC67DA3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E83DB-1127-4109-BCF8-D5E33FBA3674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57759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deepFreeze(valor, vistos = new WeakSet())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(valor === null || typeof valor !== "object") return valor;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(vistos.has(valor)) return valor;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27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vistos.add(valor);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for (const hijo of Object.values(valor))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deepFreeze(hijo, vistos);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27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Object.freeze(valor);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27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config = deepFreeze({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ui: { tema: "oscuro" },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limite: 3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]);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83ACFC-1700-4D9D-8A72-5B41E0FC252F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33A23-F7F6-47CC-AC22-EE7B46544F19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freeze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332A0D-C678-418E-BF2E-EC675DA93F73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bloquea propiedades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E83E6FE4-F189-4BD6-9EE2-5A83F0798622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17E40A-657D-42EF-8B4A-C20FCF3A0410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F7C35-D10B-4100-8FA9-3C8971211164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WeakSet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76257-C920-4FE5-9CE5-17760A225687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controla ciclos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DA1A3EE7-4FAA-4988-B43E-4294822F7121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AC5E50-EBAC-4244-80CE-FAE371998D2E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804400-51D2-4EC2-832B-F74D78FE99CE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recursión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1CB7D8-3EC3-47FA-8B05-EC133AA0FE8F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recorre el grafo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73044687-EC03-4E40-8B50-6DDCBD43E955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691609-4F6D-4710-A662-5D2FAB883493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119C1A-4132-4E4F-B5C3-1812ACC100A2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contrato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90CCA8-06DC-45C0-A6DF-F63042221620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estado estable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8AD58296-DAEF-4D28-9F23-BADA5E53A4B1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A958B9-D1DB-4DCE-B1A8-1577C5E68240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D0FA8-05C2-49DA-BB81-39E3CE40605B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inmutabilidad es una decisión de diseño; const por sí sola no la garantiza.</a:t>
            </a:r>
          </a:p>
        </p:txBody>
      </p:sp>
    </p:spTree>
    <p:extLst>
      <p:ext uri="{BB962C8B-B14F-4D97-AF65-F5344CB8AC3E}">
        <p14:creationId xmlns:p14="http://schemas.microsoft.com/office/powerpoint/2010/main" val="1486651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5A807F-B8D0-470C-8D24-719CBFF28C48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3E06D-6CC1-4EA3-862A-0B0B9778916E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Ciclo de validación de tipos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B0288-5FEA-48A9-A1E2-DF2A08F52639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Validación antes de ejecutar una operación.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22F6CA-29AC-4352-BBDE-0A4CB29EE5A6}"/>
              </a:ext>
            </a:extLst>
          </p:cNvPr>
          <p:cNvSpPr>
            <a:spLocks noGrp="1"/>
          </p:cNvSpPr>
          <p:nvPr/>
        </p:nvSpPr>
        <p:spPr>
          <a:xfrm>
            <a:off x="658368" y="16642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C62D79-A522-4ED5-8CF7-F904B11A6240}"/>
              </a:ext>
            </a:extLst>
          </p:cNvPr>
          <p:cNvSpPr>
            <a:spLocks noGrp="1"/>
          </p:cNvSpPr>
          <p:nvPr/>
        </p:nvSpPr>
        <p:spPr>
          <a:xfrm>
            <a:off x="658368" y="2148840"/>
            <a:ext cx="1975103" cy="987552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27B04-0285-4DA7-A845-7D4547D58DEB}"/>
              </a:ext>
            </a:extLst>
          </p:cNvPr>
          <p:cNvSpPr>
            <a:spLocks noGrp="1"/>
          </p:cNvSpPr>
          <p:nvPr/>
        </p:nvSpPr>
        <p:spPr>
          <a:xfrm>
            <a:off x="704088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Entrada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7FFA8327-DFFF-47BF-A8DF-533BC5C7C501}"/>
              </a:ext>
            </a:extLst>
          </p:cNvPr>
          <p:cNvSpPr>
            <a:spLocks noGrp="1"/>
          </p:cNvSpPr>
          <p:nvPr/>
        </p:nvSpPr>
        <p:spPr>
          <a:xfrm>
            <a:off x="2633472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7C2CC6-684E-4F91-B7E3-4D484C492360}"/>
              </a:ext>
            </a:extLst>
          </p:cNvPr>
          <p:cNvSpPr>
            <a:spLocks noGrp="1"/>
          </p:cNvSpPr>
          <p:nvPr/>
        </p:nvSpPr>
        <p:spPr>
          <a:xfrm>
            <a:off x="2816352" y="2148840"/>
            <a:ext cx="1975103" cy="9875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76B8B6-43BF-4285-B0F1-226F5D459A18}"/>
              </a:ext>
            </a:extLst>
          </p:cNvPr>
          <p:cNvSpPr>
            <a:spLocks noGrp="1"/>
          </p:cNvSpPr>
          <p:nvPr/>
        </p:nvSpPr>
        <p:spPr>
          <a:xfrm>
            <a:off x="2862072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Normalizar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BCA478D4-88AE-4A51-80EF-C7DC00A8A32D}"/>
              </a:ext>
            </a:extLst>
          </p:cNvPr>
          <p:cNvSpPr>
            <a:spLocks noGrp="1"/>
          </p:cNvSpPr>
          <p:nvPr/>
        </p:nvSpPr>
        <p:spPr>
          <a:xfrm>
            <a:off x="4791456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F3E526-F45B-448E-8144-DD698BA77A71}"/>
              </a:ext>
            </a:extLst>
          </p:cNvPr>
          <p:cNvSpPr>
            <a:spLocks noGrp="1"/>
          </p:cNvSpPr>
          <p:nvPr/>
        </p:nvSpPr>
        <p:spPr>
          <a:xfrm>
            <a:off x="4974336" y="2148840"/>
            <a:ext cx="1975103" cy="9875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BFD8EB-6E69-4961-81F8-21E46DA2E854}"/>
              </a:ext>
            </a:extLst>
          </p:cNvPr>
          <p:cNvSpPr>
            <a:spLocks noGrp="1"/>
          </p:cNvSpPr>
          <p:nvPr/>
        </p:nvSpPr>
        <p:spPr>
          <a:xfrm>
            <a:off x="5020055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Comprobar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D3C0A448-31AE-49B6-B33C-C77451F84C04}"/>
              </a:ext>
            </a:extLst>
          </p:cNvPr>
          <p:cNvSpPr>
            <a:spLocks noGrp="1"/>
          </p:cNvSpPr>
          <p:nvPr/>
        </p:nvSpPr>
        <p:spPr>
          <a:xfrm>
            <a:off x="6949440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389E9-EF3B-43EB-944F-C75127730824}"/>
              </a:ext>
            </a:extLst>
          </p:cNvPr>
          <p:cNvSpPr>
            <a:spLocks noGrp="1"/>
          </p:cNvSpPr>
          <p:nvPr/>
        </p:nvSpPr>
        <p:spPr>
          <a:xfrm>
            <a:off x="7132319" y="2148840"/>
            <a:ext cx="1975103" cy="987552"/>
          </a:xfrm>
          <a:prstGeom prst="rect">
            <a:avLst/>
          </a:prstGeom>
          <a:solidFill>
            <a:srgbClr val="FFF6E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ECE66A-848F-4437-8CF6-65ED6B6628F4}"/>
              </a:ext>
            </a:extLst>
          </p:cNvPr>
          <p:cNvSpPr>
            <a:spLocks noGrp="1"/>
          </p:cNvSpPr>
          <p:nvPr/>
        </p:nvSpPr>
        <p:spPr>
          <a:xfrm>
            <a:off x="7178039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Operar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24304382-B868-42FB-8E4F-CDBEC8AEF674}"/>
              </a:ext>
            </a:extLst>
          </p:cNvPr>
          <p:cNvSpPr>
            <a:spLocks noGrp="1"/>
          </p:cNvSpPr>
          <p:nvPr/>
        </p:nvSpPr>
        <p:spPr>
          <a:xfrm>
            <a:off x="9107424" y="2651760"/>
            <a:ext cx="182879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0BEBA8-9148-4B98-9AE2-30B46851FC0F}"/>
              </a:ext>
            </a:extLst>
          </p:cNvPr>
          <p:cNvSpPr>
            <a:spLocks noGrp="1"/>
          </p:cNvSpPr>
          <p:nvPr/>
        </p:nvSpPr>
        <p:spPr>
          <a:xfrm>
            <a:off x="9290303" y="2148840"/>
            <a:ext cx="1975103" cy="9875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34DA1C-BB47-49CF-ABE6-3D3AF7141D54}"/>
              </a:ext>
            </a:extLst>
          </p:cNvPr>
          <p:cNvSpPr>
            <a:spLocks noGrp="1"/>
          </p:cNvSpPr>
          <p:nvPr/>
        </p:nvSpPr>
        <p:spPr>
          <a:xfrm>
            <a:off x="9336024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Verificar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5A684F-F140-4883-8BD0-1651CAAABDCF}"/>
              </a:ext>
            </a:extLst>
          </p:cNvPr>
          <p:cNvSpPr>
            <a:spLocks noGrp="1"/>
          </p:cNvSpPr>
          <p:nvPr/>
        </p:nvSpPr>
        <p:spPr>
          <a:xfrm>
            <a:off x="658368" y="3749038"/>
            <a:ext cx="10469880" cy="1658703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941105-6DB5-449F-8443-672EC62EE88F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657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1FAD29-DAAD-40E0-8D18-24C8EB368223}"/>
              </a:ext>
            </a:extLst>
          </p:cNvPr>
          <p:cNvSpPr>
            <a:spLocks noGrp="1"/>
          </p:cNvSpPr>
          <p:nvPr/>
        </p:nvSpPr>
        <p:spPr>
          <a:xfrm>
            <a:off x="960120" y="425196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 entrada externa no es confiable.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FCE60-A3EE-43AC-93E1-6E0020F5E1F5}"/>
              </a:ext>
            </a:extLst>
          </p:cNvPr>
          <p:cNvSpPr>
            <a:spLocks noGrp="1"/>
          </p:cNvSpPr>
          <p:nvPr/>
        </p:nvSpPr>
        <p:spPr>
          <a:xfrm>
            <a:off x="960120" y="459943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tipo debe comprobarse antes del cálculo.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EE9A48-2160-4D92-B8DD-2C2A262997E9}"/>
              </a:ext>
            </a:extLst>
          </p:cNvPr>
          <p:cNvSpPr>
            <a:spLocks noGrp="1"/>
          </p:cNvSpPr>
          <p:nvPr/>
        </p:nvSpPr>
        <p:spPr>
          <a:xfrm>
            <a:off x="960120" y="494690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resultado también puede ser NaN o Infinity.</a:t>
            </a:r>
          </a:p>
        </p:txBody>
      </p:sp>
    </p:spTree>
    <p:extLst>
      <p:ext uri="{BB962C8B-B14F-4D97-AF65-F5344CB8AC3E}">
        <p14:creationId xmlns:p14="http://schemas.microsoft.com/office/powerpoint/2010/main" val="139748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A16FEF-1A27-4BF7-91BE-CAEC642ECF85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F929F-7D8B-41F0-BD30-1EF1CE39BBA2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Primitivo vs referencia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4F418-C278-4274-9120-1A933CD7DF91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Dos modelos diferentes de almacenamiento e identidad.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502A06-90C7-4EAD-8BAF-18154DEB0810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5257800" cy="3703320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21FBA-5F3A-4B33-83E2-D11C70382AFB}"/>
              </a:ext>
            </a:extLst>
          </p:cNvPr>
          <p:cNvSpPr>
            <a:spLocks noGrp="1"/>
          </p:cNvSpPr>
          <p:nvPr/>
        </p:nvSpPr>
        <p:spPr>
          <a:xfrm>
            <a:off x="6327648" y="1645920"/>
            <a:ext cx="5257800" cy="3703320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62384C-CEA5-4DEB-AB96-3599FB91BCB0}"/>
              </a:ext>
            </a:extLst>
          </p:cNvPr>
          <p:cNvSpPr>
            <a:spLocks noGrp="1"/>
          </p:cNvSpPr>
          <p:nvPr/>
        </p:nvSpPr>
        <p:spPr>
          <a:xfrm>
            <a:off x="841248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Primitivo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A98EB-EC65-49AA-BF95-9335089ABD24}"/>
              </a:ext>
            </a:extLst>
          </p:cNvPr>
          <p:cNvSpPr>
            <a:spLocks noGrp="1"/>
          </p:cNvSpPr>
          <p:nvPr/>
        </p:nvSpPr>
        <p:spPr>
          <a:xfrm>
            <a:off x="6565392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Referencia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30879-5572-47DA-9851-A3C63228BC2C}"/>
              </a:ext>
            </a:extLst>
          </p:cNvPr>
          <p:cNvSpPr>
            <a:spLocks noGrp="1"/>
          </p:cNvSpPr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Valor autocontenido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A1F0F-1698-4E90-ADB1-1F1C938CA442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Comparación por valor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B8CF37-0D44-4831-B0E3-01F06BE7828F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No tiene identidad mutable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35DA8-126E-45B4-81C2-9D4282C65272}"/>
              </a:ext>
            </a:extLst>
          </p:cNvPr>
          <p:cNvSpPr>
            <a:spLocks noGrp="1"/>
          </p:cNvSpPr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Copia independiente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098E09-1313-4279-84BF-B828B5002EB2}"/>
              </a:ext>
            </a:extLst>
          </p:cNvPr>
          <p:cNvSpPr>
            <a:spLocks noGrp="1"/>
          </p:cNvSpPr>
          <p:nvPr/>
        </p:nvSpPr>
        <p:spPr>
          <a:xfrm>
            <a:off x="6656832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Apunta a un objeto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0BAE13-C548-4B35-B3CB-97E0C590A98C}"/>
              </a:ext>
            </a:extLst>
          </p:cNvPr>
          <p:cNvSpPr>
            <a:spLocks noGrp="1"/>
          </p:cNvSpPr>
          <p:nvPr/>
        </p:nvSpPr>
        <p:spPr>
          <a:xfrm>
            <a:off x="6656832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Comparación por identidad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2B734B-1A6B-4A80-B006-15A3263FF9E3}"/>
              </a:ext>
            </a:extLst>
          </p:cNvPr>
          <p:cNvSpPr>
            <a:spLocks noGrp="1"/>
          </p:cNvSpPr>
          <p:nvPr/>
        </p:nvSpPr>
        <p:spPr>
          <a:xfrm>
            <a:off x="6656832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Puede compartir mutaciones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E10FF0-0049-45C9-AF6A-79DA68012843}"/>
              </a:ext>
            </a:extLst>
          </p:cNvPr>
          <p:cNvSpPr>
            <a:spLocks noGrp="1"/>
          </p:cNvSpPr>
          <p:nvPr/>
        </p:nvSpPr>
        <p:spPr>
          <a:xfrm>
            <a:off x="6656832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Copia superficial o profunda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E45D18-197D-408F-8F07-0803732AD9EE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34C515-6238-44C1-AFA0-9830DD16DB43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Comprender identidad y copia evita efectos laterales difíciles de rastrear.</a:t>
            </a:r>
          </a:p>
        </p:txBody>
      </p:sp>
    </p:spTree>
    <p:extLst>
      <p:ext uri="{BB962C8B-B14F-4D97-AF65-F5344CB8AC3E}">
        <p14:creationId xmlns:p14="http://schemas.microsoft.com/office/powerpoint/2010/main" val="1303512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75A648-4648-44D1-8E6C-B9EC2A8673C3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2808A-561B-401F-9EB0-07AF577B5452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Estado seguro y contrato de datos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4DC94-384E-42B7-9243-A9B6ACB372A3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Separar configuración, estado mutable y ausencia.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5D416E3-93F5-42FE-A198-306045173FD5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5257800" cy="3703320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A19181-B9EA-4F1A-8BCD-89997DDD0AEB}"/>
              </a:ext>
            </a:extLst>
          </p:cNvPr>
          <p:cNvSpPr>
            <a:spLocks noGrp="1"/>
          </p:cNvSpPr>
          <p:nvPr/>
        </p:nvSpPr>
        <p:spPr>
          <a:xfrm>
            <a:off x="6327648" y="1645920"/>
            <a:ext cx="5257800" cy="3703320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31276-7AD6-45B4-8CB4-705D64F92C71}"/>
              </a:ext>
            </a:extLst>
          </p:cNvPr>
          <p:cNvSpPr>
            <a:spLocks noGrp="1"/>
          </p:cNvSpPr>
          <p:nvPr/>
        </p:nvSpPr>
        <p:spPr>
          <a:xfrm>
            <a:off x="841248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Representación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52366B-F81D-48A9-9683-89F2EDA41035}"/>
              </a:ext>
            </a:extLst>
          </p:cNvPr>
          <p:cNvSpPr>
            <a:spLocks noGrp="1"/>
          </p:cNvSpPr>
          <p:nvPr/>
        </p:nvSpPr>
        <p:spPr>
          <a:xfrm>
            <a:off x="6565392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Validación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AE9BE4-EA0A-4F92-A7E3-5D5A0428497C}"/>
              </a:ext>
            </a:extLst>
          </p:cNvPr>
          <p:cNvSpPr>
            <a:spLocks noGrp="1"/>
          </p:cNvSpPr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const para configuración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1D002-85FE-4391-88A3-DF0DC7AF377F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let para evolución real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F3C48B-D71C-44CB-9F07-24CF5F324539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null para ausencia intencional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D8708C-52C5-4B07-BCC0-43B22F0E04C4}"/>
              </a:ext>
            </a:extLst>
          </p:cNvPr>
          <p:cNvSpPr>
            <a:spLocks noGrp="1"/>
          </p:cNvSpPr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Symbol para claves internas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AB5AE-49F1-4460-8EF0-D36D89F3D2AC}"/>
              </a:ext>
            </a:extLst>
          </p:cNvPr>
          <p:cNvSpPr>
            <a:spLocks noGrp="1"/>
          </p:cNvSpPr>
          <p:nvPr/>
        </p:nvSpPr>
        <p:spPr>
          <a:xfrm>
            <a:off x="6656832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typeof + pruebas específicas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67FB32-065F-4C85-AF6F-DEDDD2457F90}"/>
              </a:ext>
            </a:extLst>
          </p:cNvPr>
          <p:cNvSpPr>
            <a:spLocks noGrp="1"/>
          </p:cNvSpPr>
          <p:nvPr/>
        </p:nvSpPr>
        <p:spPr>
          <a:xfrm>
            <a:off x="6656832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Number.isFinite en números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2C1AF7-A1BB-43AB-AF8D-FD721433E603}"/>
              </a:ext>
            </a:extLst>
          </p:cNvPr>
          <p:cNvSpPr>
            <a:spLocks noGrp="1"/>
          </p:cNvSpPr>
          <p:nvPr/>
        </p:nvSpPr>
        <p:spPr>
          <a:xfrm>
            <a:off x="6656832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Object.freeze si aplica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0438D-0B0B-4230-B045-55718B1558D2}"/>
              </a:ext>
            </a:extLst>
          </p:cNvPr>
          <p:cNvSpPr>
            <a:spLocks noGrp="1"/>
          </p:cNvSpPr>
          <p:nvPr/>
        </p:nvSpPr>
        <p:spPr>
          <a:xfrm>
            <a:off x="6656832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Errores tempranos y claros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2F1D8-C6F6-423B-9E5E-0FB8CBED8EBA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705DA6-4ED0-4E1E-AC13-D72B1B0A89B7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 contrato explícito reduce ambigüedad y simplifica las pruebas.</a:t>
            </a:r>
          </a:p>
        </p:txBody>
      </p:sp>
    </p:spTree>
    <p:extLst>
      <p:ext uri="{BB962C8B-B14F-4D97-AF65-F5344CB8AC3E}">
        <p14:creationId xmlns:p14="http://schemas.microsoft.com/office/powerpoint/2010/main" val="2009842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2323C4-8CC5-4113-B27A-52BFEBCECF40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A7DD5-8E4D-4623-8123-CC539BF61BBA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Recursos para profundizar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8C57E-C9E9-466E-9976-5B21430E2E7D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Documentación oficial recomendada para continuar después de clase</a:t>
            </a:r>
          </a:p>
        </p:txBody>
      </p:sp>
      <p:pic>
        <p:nvPicPr>
          <p:cNvPr id="2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202F14-D640-4C4A-B6B5-6D93A4E654B7}"/>
              </a:ext>
            </a:extLst>
          </p:cNvPr>
          <p:cNvSpPr>
            <a:spLocks noGrp="1"/>
          </p:cNvSpPr>
          <p:nvPr/>
        </p:nvSpPr>
        <p:spPr>
          <a:xfrm>
            <a:off x="566928" y="2121408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D2635-1847-4E0E-B987-041E2D656D88}"/>
              </a:ext>
            </a:extLst>
          </p:cNvPr>
          <p:cNvSpPr>
            <a:spLocks noGrp="1"/>
          </p:cNvSpPr>
          <p:nvPr/>
        </p:nvSpPr>
        <p:spPr>
          <a:xfrm>
            <a:off x="768095" y="2212848"/>
            <a:ext cx="468880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rPr dirty="0"/>
              <a:t>MDN: Grammar and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7DB04-70C5-42F0-BC01-4B3E0135452E}"/>
              </a:ext>
            </a:extLst>
          </p:cNvPr>
          <p:cNvSpPr>
            <a:spLocks noGrp="1"/>
          </p:cNvSpPr>
          <p:nvPr/>
        </p:nvSpPr>
        <p:spPr>
          <a:xfrm>
            <a:off x="768095" y="2514600"/>
            <a:ext cx="6055491" cy="264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https://developer.mozilla.org/docs/Web/JavaScript/Guide/Grammar_and_types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EA5079-6D75-4F11-B960-0AA587C786E5}"/>
              </a:ext>
            </a:extLst>
          </p:cNvPr>
          <p:cNvSpPr>
            <a:spLocks noGrp="1"/>
          </p:cNvSpPr>
          <p:nvPr/>
        </p:nvSpPr>
        <p:spPr>
          <a:xfrm>
            <a:off x="6446520" y="2267711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Declaraciones y tipos.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810E16-860E-4B08-97B8-714DEE224468}"/>
              </a:ext>
            </a:extLst>
          </p:cNvPr>
          <p:cNvSpPr>
            <a:spLocks noGrp="1"/>
          </p:cNvSpPr>
          <p:nvPr/>
        </p:nvSpPr>
        <p:spPr>
          <a:xfrm>
            <a:off x="566928" y="3054096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2A0CF7-FE98-48F7-A588-FFE24BDCFE3F}"/>
              </a:ext>
            </a:extLst>
          </p:cNvPr>
          <p:cNvSpPr>
            <a:spLocks noGrp="1"/>
          </p:cNvSpPr>
          <p:nvPr/>
        </p:nvSpPr>
        <p:spPr>
          <a:xfrm>
            <a:off x="768096" y="3145536"/>
            <a:ext cx="468880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rPr dirty="0"/>
              <a:t>ECMAScript Language Specification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4717C4-2112-4BFB-A597-8A6C07670527}"/>
              </a:ext>
            </a:extLst>
          </p:cNvPr>
          <p:cNvSpPr>
            <a:spLocks noGrp="1"/>
          </p:cNvSpPr>
          <p:nvPr/>
        </p:nvSpPr>
        <p:spPr>
          <a:xfrm>
            <a:off x="768096" y="3447288"/>
            <a:ext cx="5486400" cy="262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https://tc39.es/ecma262/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285371-B785-4641-B570-973E96E9E981}"/>
              </a:ext>
            </a:extLst>
          </p:cNvPr>
          <p:cNvSpPr>
            <a:spLocks noGrp="1"/>
          </p:cNvSpPr>
          <p:nvPr/>
        </p:nvSpPr>
        <p:spPr>
          <a:xfrm>
            <a:off x="6446520" y="320040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Semántica formal.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E1CA2E-0E48-466A-8B7C-0929AC5AF5C1}"/>
              </a:ext>
            </a:extLst>
          </p:cNvPr>
          <p:cNvSpPr>
            <a:spLocks noGrp="1"/>
          </p:cNvSpPr>
          <p:nvPr/>
        </p:nvSpPr>
        <p:spPr>
          <a:xfrm>
            <a:off x="566928" y="3986784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DB7551-DDA5-4A3F-B0A6-1AFECC874BD5}"/>
              </a:ext>
            </a:extLst>
          </p:cNvPr>
          <p:cNvSpPr>
            <a:spLocks noGrp="1"/>
          </p:cNvSpPr>
          <p:nvPr/>
        </p:nvSpPr>
        <p:spPr>
          <a:xfrm>
            <a:off x="768096" y="407822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Node.js Learn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CA8104-77AF-4E36-BEB4-B34273230083}"/>
              </a:ext>
            </a:extLst>
          </p:cNvPr>
          <p:cNvSpPr>
            <a:spLocks noGrp="1"/>
          </p:cNvSpPr>
          <p:nvPr/>
        </p:nvSpPr>
        <p:spPr>
          <a:xfrm>
            <a:off x="768096" y="4379976"/>
            <a:ext cx="5486400" cy="262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https://nodejs.org/en/learn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A8C67B-5A22-4EF2-8C24-9713DDFF99A5}"/>
              </a:ext>
            </a:extLst>
          </p:cNvPr>
          <p:cNvSpPr>
            <a:spLocks noGrp="1"/>
          </p:cNvSpPr>
          <p:nvPr/>
        </p:nvSpPr>
        <p:spPr>
          <a:xfrm>
            <a:off x="6446520" y="4133088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Ejecución y ejemplos.</a:t>
            </a:r>
          </a:p>
        </p:txBody>
      </p:sp>
    </p:spTree>
    <p:extLst>
      <p:ext uri="{BB962C8B-B14F-4D97-AF65-F5344CB8AC3E}">
        <p14:creationId xmlns:p14="http://schemas.microsoft.com/office/powerpoint/2010/main" val="175776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93AE26-ADBC-4AF5-9629-CFA4FBB5ED62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E3679-778F-4461-892C-813B4D65DCE6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Actividad Complementaria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43982-82F2-4C53-AD22-FE1219D30D43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Módulo de configuración</a:t>
            </a:r>
          </a:p>
        </p:txBody>
      </p:sp>
      <p:pic>
        <p:nvPicPr>
          <p:cNvPr id="3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B0E4B3-371E-4072-BAF9-AC4E113AEF8A}"/>
              </a:ext>
            </a:extLst>
          </p:cNvPr>
          <p:cNvSpPr>
            <a:spLocks noGrp="1"/>
          </p:cNvSpPr>
          <p:nvPr/>
        </p:nvSpPr>
        <p:spPr>
          <a:xfrm>
            <a:off x="658368" y="1508760"/>
            <a:ext cx="2286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Objetivo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AA352-40A3-4680-A18F-CD477D244384}"/>
              </a:ext>
            </a:extLst>
          </p:cNvPr>
          <p:cNvSpPr>
            <a:spLocks noGrp="1"/>
          </p:cNvSpPr>
          <p:nvPr/>
        </p:nvSpPr>
        <p:spPr>
          <a:xfrm>
            <a:off x="658368" y="1847088"/>
            <a:ext cx="987552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Construir un estado tipado y protegido para una aplicación de matrícula.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5376C-6688-4292-9150-0769916977A6}"/>
              </a:ext>
            </a:extLst>
          </p:cNvPr>
          <p:cNvSpPr>
            <a:spLocks noGrp="1"/>
          </p:cNvSpPr>
          <p:nvPr/>
        </p:nvSpPr>
        <p:spPr>
          <a:xfrm>
            <a:off x="658368" y="2514600"/>
            <a:ext cx="2286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Pasos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23F4F2-4DB8-45E4-BC8E-5A10AC27DEE6}"/>
              </a:ext>
            </a:extLst>
          </p:cNvPr>
          <p:cNvSpPr>
            <a:spLocks noGrp="1"/>
          </p:cNvSpPr>
          <p:nvPr/>
        </p:nvSpPr>
        <p:spPr>
          <a:xfrm>
            <a:off x="685800" y="2880360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46283-3F24-4EC2-BEC2-C063EE0F2BBC}"/>
              </a:ext>
            </a:extLst>
          </p:cNvPr>
          <p:cNvSpPr>
            <a:spLocks noGrp="1"/>
          </p:cNvSpPr>
          <p:nvPr/>
        </p:nvSpPr>
        <p:spPr>
          <a:xfrm>
            <a:off x="685800" y="294436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F6E8F9-F10A-45B5-A21E-CC021D159E9C}"/>
              </a:ext>
            </a:extLst>
          </p:cNvPr>
          <p:cNvSpPr>
            <a:spLocks noGrp="1"/>
          </p:cNvSpPr>
          <p:nvPr/>
        </p:nvSpPr>
        <p:spPr>
          <a:xfrm>
            <a:off x="1325880" y="289864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Definir configuración y estado mutable.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8FE86-4057-4669-BF80-C43B5EC92B1E}"/>
              </a:ext>
            </a:extLst>
          </p:cNvPr>
          <p:cNvSpPr>
            <a:spLocks noGrp="1"/>
          </p:cNvSpPr>
          <p:nvPr/>
        </p:nvSpPr>
        <p:spPr>
          <a:xfrm>
            <a:off x="685800" y="3392424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1DFC6E-6956-4249-86D4-618F3602D441}"/>
              </a:ext>
            </a:extLst>
          </p:cNvPr>
          <p:cNvSpPr>
            <a:spLocks noGrp="1"/>
          </p:cNvSpPr>
          <p:nvPr/>
        </p:nvSpPr>
        <p:spPr>
          <a:xfrm>
            <a:off x="685800" y="3456432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C7899-8BC1-4AB2-AB15-50860DBA3BE5}"/>
              </a:ext>
            </a:extLst>
          </p:cNvPr>
          <p:cNvSpPr>
            <a:spLocks noGrp="1"/>
          </p:cNvSpPr>
          <p:nvPr/>
        </p:nvSpPr>
        <p:spPr>
          <a:xfrm>
            <a:off x="1325880" y="341071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Usar BigInt y Symbol cuando corresponda.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11F1B-672E-4DF1-98F4-CD0650F53B88}"/>
              </a:ext>
            </a:extLst>
          </p:cNvPr>
          <p:cNvSpPr>
            <a:spLocks noGrp="1"/>
          </p:cNvSpPr>
          <p:nvPr/>
        </p:nvSpPr>
        <p:spPr>
          <a:xfrm>
            <a:off x="685800" y="3904487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3509C8-BD14-4DEB-9755-B92BAAB3997A}"/>
              </a:ext>
            </a:extLst>
          </p:cNvPr>
          <p:cNvSpPr>
            <a:spLocks noGrp="1"/>
          </p:cNvSpPr>
          <p:nvPr/>
        </p:nvSpPr>
        <p:spPr>
          <a:xfrm>
            <a:off x="685800" y="396849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FAF7F-32D9-4E0B-893C-E062F3515F84}"/>
              </a:ext>
            </a:extLst>
          </p:cNvPr>
          <p:cNvSpPr>
            <a:spLocks noGrp="1"/>
          </p:cNvSpPr>
          <p:nvPr/>
        </p:nvSpPr>
        <p:spPr>
          <a:xfrm>
            <a:off x="1325880" y="3922775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Implementar tipoReal y validaciones.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D12A8C-B134-46A5-AC82-9182CCB517BF}"/>
              </a:ext>
            </a:extLst>
          </p:cNvPr>
          <p:cNvSpPr>
            <a:spLocks noGrp="1"/>
          </p:cNvSpPr>
          <p:nvPr/>
        </p:nvSpPr>
        <p:spPr>
          <a:xfrm>
            <a:off x="685800" y="4416552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355C9-E023-47B2-AF93-A0746844F6D1}"/>
              </a:ext>
            </a:extLst>
          </p:cNvPr>
          <p:cNvSpPr>
            <a:spLocks noGrp="1"/>
          </p:cNvSpPr>
          <p:nvPr/>
        </p:nvSpPr>
        <p:spPr>
          <a:xfrm>
            <a:off x="685800" y="448056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E41FDF-357C-4E40-B44F-B4D3A64AD81D}"/>
              </a:ext>
            </a:extLst>
          </p:cNvPr>
          <p:cNvSpPr>
            <a:spLocks noGrp="1"/>
          </p:cNvSpPr>
          <p:nvPr/>
        </p:nvSpPr>
        <p:spPr>
          <a:xfrm>
            <a:off x="1325880" y="4434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Aplicar copia e inmutabilidad.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AFD20-027B-4B2A-86E1-6D26831610B2}"/>
              </a:ext>
            </a:extLst>
          </p:cNvPr>
          <p:cNvSpPr>
            <a:spLocks noGrp="1"/>
          </p:cNvSpPr>
          <p:nvPr/>
        </p:nvSpPr>
        <p:spPr>
          <a:xfrm>
            <a:off x="685800" y="4928616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22EBD3-FFC1-48D2-806D-86E600B037DC}"/>
              </a:ext>
            </a:extLst>
          </p:cNvPr>
          <p:cNvSpPr>
            <a:spLocks noGrp="1"/>
          </p:cNvSpPr>
          <p:nvPr/>
        </p:nvSpPr>
        <p:spPr>
          <a:xfrm>
            <a:off x="685800" y="4992624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4429A3-7FEF-4135-B52A-7A6D663B0C83}"/>
              </a:ext>
            </a:extLst>
          </p:cNvPr>
          <p:cNvSpPr>
            <a:spLocks noGrp="1"/>
          </p:cNvSpPr>
          <p:nvPr/>
        </p:nvSpPr>
        <p:spPr>
          <a:xfrm>
            <a:off x="1325880" y="4946904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Probar aliasing y errores de tipo.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177945-D92F-45F3-8119-7A8D648FC3D7}"/>
              </a:ext>
            </a:extLst>
          </p:cNvPr>
          <p:cNvSpPr>
            <a:spLocks noGrp="1"/>
          </p:cNvSpPr>
          <p:nvPr/>
        </p:nvSpPr>
        <p:spPr>
          <a:xfrm>
            <a:off x="658368" y="5577840"/>
            <a:ext cx="7178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388BC8-A696-485E-936B-FF579FF78730}"/>
              </a:ext>
            </a:extLst>
          </p:cNvPr>
          <p:cNvSpPr>
            <a:spLocks noGrp="1"/>
          </p:cNvSpPr>
          <p:nvPr/>
        </p:nvSpPr>
        <p:spPr>
          <a:xfrm>
            <a:off x="868680" y="5742432"/>
            <a:ext cx="6720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Entrega: módulo + pruebas + explicación de memoria.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338179-F248-422C-A0CC-F6E2478FC348}"/>
              </a:ext>
            </a:extLst>
          </p:cNvPr>
          <p:cNvSpPr>
            <a:spLocks noGrp="1"/>
          </p:cNvSpPr>
          <p:nvPr/>
        </p:nvSpPr>
        <p:spPr>
          <a:xfrm>
            <a:off x="8092440" y="5577840"/>
            <a:ext cx="269748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6CEE9D-DD03-456B-B95C-C1844503863C}"/>
              </a:ext>
            </a:extLst>
          </p:cNvPr>
          <p:cNvSpPr>
            <a:spLocks noGrp="1"/>
          </p:cNvSpPr>
          <p:nvPr/>
        </p:nvSpPr>
        <p:spPr>
          <a:xfrm>
            <a:off x="8092440" y="5742432"/>
            <a:ext cx="269748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Tiempo: 100 min</a:t>
            </a:r>
          </a:p>
        </p:txBody>
      </p:sp>
    </p:spTree>
    <p:extLst>
      <p:ext uri="{BB962C8B-B14F-4D97-AF65-F5344CB8AC3E}">
        <p14:creationId xmlns:p14="http://schemas.microsoft.com/office/powerpoint/2010/main" val="720965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884FD3-4EC1-4D30-9638-DA5E962F203D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15438-9EAD-4327-957A-9002F4E19FF6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Consultas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5A8BE-D058-4FE5-BCF3-E241EFF0FDEF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Preguntas guía para repasar antes de la práctica: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D66E39-7606-442E-AE37-6E952A3E839C}"/>
              </a:ext>
            </a:extLst>
          </p:cNvPr>
          <p:cNvSpPr>
            <a:spLocks noGrp="1"/>
          </p:cNvSpPr>
          <p:nvPr/>
        </p:nvSpPr>
        <p:spPr>
          <a:xfrm>
            <a:off x="960120" y="19202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A3E45-9C72-48D9-AA44-E06D5F5CF971}"/>
              </a:ext>
            </a:extLst>
          </p:cNvPr>
          <p:cNvSpPr>
            <a:spLocks noGrp="1"/>
          </p:cNvSpPr>
          <p:nvPr/>
        </p:nvSpPr>
        <p:spPr>
          <a:xfrm>
            <a:off x="960120" y="19933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DAD31-4BC5-4B4C-B7A3-AD1C07731FC8}"/>
              </a:ext>
            </a:extLst>
          </p:cNvPr>
          <p:cNvSpPr>
            <a:spLocks noGrp="1"/>
          </p:cNvSpPr>
          <p:nvPr/>
        </p:nvSpPr>
        <p:spPr>
          <a:xfrm>
            <a:off x="1618488" y="19019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¿Qué diferencia existe entre binding y valor?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6B25E9-0D54-49DF-9DA5-3C65510AE846}"/>
              </a:ext>
            </a:extLst>
          </p:cNvPr>
          <p:cNvSpPr>
            <a:spLocks noGrp="1"/>
          </p:cNvSpPr>
          <p:nvPr/>
        </p:nvSpPr>
        <p:spPr>
          <a:xfrm>
            <a:off x="6263640" y="19202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3A432-7A27-4AC4-94FC-C7D6EFD89289}"/>
              </a:ext>
            </a:extLst>
          </p:cNvPr>
          <p:cNvSpPr>
            <a:spLocks noGrp="1"/>
          </p:cNvSpPr>
          <p:nvPr/>
        </p:nvSpPr>
        <p:spPr>
          <a:xfrm>
            <a:off x="6263640" y="19933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43819-FDCD-4EEE-A20C-4D2F7FF27E37}"/>
              </a:ext>
            </a:extLst>
          </p:cNvPr>
          <p:cNvSpPr>
            <a:spLocks noGrp="1"/>
          </p:cNvSpPr>
          <p:nvPr/>
        </p:nvSpPr>
        <p:spPr>
          <a:xfrm>
            <a:off x="6922007" y="19019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¿Por qué const no vuelve inmutable un objeto?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26AD1-C2C3-4251-8D3A-AFED76248388}"/>
              </a:ext>
            </a:extLst>
          </p:cNvPr>
          <p:cNvSpPr>
            <a:spLocks noGrp="1"/>
          </p:cNvSpPr>
          <p:nvPr/>
        </p:nvSpPr>
        <p:spPr>
          <a:xfrm>
            <a:off x="960120" y="35204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F13C2-1352-4442-91AA-7718B12FC760}"/>
              </a:ext>
            </a:extLst>
          </p:cNvPr>
          <p:cNvSpPr>
            <a:spLocks noGrp="1"/>
          </p:cNvSpPr>
          <p:nvPr/>
        </p:nvSpPr>
        <p:spPr>
          <a:xfrm>
            <a:off x="960120" y="35935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27F9FA-7F7F-4435-B2C7-1AF7F9E73903}"/>
              </a:ext>
            </a:extLst>
          </p:cNvPr>
          <p:cNvSpPr>
            <a:spLocks noGrp="1"/>
          </p:cNvSpPr>
          <p:nvPr/>
        </p:nvSpPr>
        <p:spPr>
          <a:xfrm>
            <a:off x="1618488" y="35021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¿Cuándo conviene BigInt o Symbol?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38D522-EB14-49E4-BF29-D19AD165995E}"/>
              </a:ext>
            </a:extLst>
          </p:cNvPr>
          <p:cNvSpPr>
            <a:spLocks noGrp="1"/>
          </p:cNvSpPr>
          <p:nvPr/>
        </p:nvSpPr>
        <p:spPr>
          <a:xfrm>
            <a:off x="6263640" y="35204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2D2DCC-ACFC-48E3-B286-F9FC13BCFADB}"/>
              </a:ext>
            </a:extLst>
          </p:cNvPr>
          <p:cNvSpPr>
            <a:spLocks noGrp="1"/>
          </p:cNvSpPr>
          <p:nvPr/>
        </p:nvSpPr>
        <p:spPr>
          <a:xfrm>
            <a:off x="6263640" y="35935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87728-18BE-4BC7-8E2E-093958D3CED6}"/>
              </a:ext>
            </a:extLst>
          </p:cNvPr>
          <p:cNvSpPr>
            <a:spLocks noGrp="1"/>
          </p:cNvSpPr>
          <p:nvPr/>
        </p:nvSpPr>
        <p:spPr>
          <a:xfrm>
            <a:off x="6922007" y="35021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¿Cómo detectarías un arreglo, null y Date?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FD259C-534D-4510-A40E-2D2AB120C592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EC26E-32DB-462A-BF85-6A7711F92FD2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Los tipos dinámicos requieren contratos explícitos y validación deliberada.</a:t>
            </a:r>
          </a:p>
        </p:txBody>
      </p:sp>
    </p:spTree>
    <p:extLst>
      <p:ext uri="{BB962C8B-B14F-4D97-AF65-F5344CB8AC3E}">
        <p14:creationId xmlns:p14="http://schemas.microsoft.com/office/powerpoint/2010/main" val="145281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Microsoft Office PowerPoint</Application>
  <DocSecurity>0</DocSecurity>
  <PresentationFormat>Panorámica</PresentationFormat>
  <Paragraphs>254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Inche Ticlavilca Bernabe Daniel</cp:lastModifiedBy>
  <cp:revision>1</cp:revision>
  <dcterms:created xsi:type="dcterms:W3CDTF">2026-10-06T12:47:38Z</dcterms:created>
  <dcterms:modified xsi:type="dcterms:W3CDTF">2026-10-06T12:59:04Z</dcterms:modified>
</cp:coreProperties>
</file>