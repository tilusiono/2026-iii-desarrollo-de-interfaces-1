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B5231-6ED6-45B6-B021-C6A8795C0C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1A2A1-3001-483A-B2E9-E86242B8B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38701-9538-453F-AA9A-517A771CA7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107EF-38C5-45A3-9CBB-2E67B0E688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F7857-00F4-432A-9B8D-B4A95B93C7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67898-F638-406C-B41C-259A8418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761B-2BC9-4364-8328-CE624AC7C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8AF5F-B7E5-4D86-A41C-4CD035A625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D9A6-D191-42DE-815A-F5BBB35D676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C35E6-1B6A-4180-A18A-ADA3C9986D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B6D2-1EE4-494B-8FFC-A59D2B68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67524-82A7-46C3-8C9B-F68651B3A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A7054-6F90-4C3A-938D-7E66D7A20C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DF6D-DCD5-4008-815A-DDDDC8EABD0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18AB-CF0E-48A8-AEE1-8917B0DB52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341AF-37EB-4388-B7B6-C44265DED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B99C7-A6BF-4397-B334-968C2D226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99CEB-78D6-4D65-A10D-280197C01AF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35227-85BD-4D11-86F3-E13C570398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F298F-BDE6-4CC1-8E68-5A892677E1B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2B9B8-6BE6-42DC-9025-C63FDEE13C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1628-2553-4AC3-8A5F-0B42DB95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0EDC3-8779-49FD-9900-17CD38BE5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741B05-95A2-4812-84F2-98F34D2BC8F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D02A2-986D-4398-9150-37904621C25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D8E35-D0E5-4E9E-AA3B-A7FB6510B77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F0D07-5DFF-4935-9406-EC8B03E74E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D1DFF4-3E09-4CC0-A0DF-0A3C6CD4C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6D5597-7008-4682-9C81-D3AAC04E4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6C71F-6790-4677-A63A-B763C4F6B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2829E4-490D-4CA9-A6CE-7E16949294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40DA24-FC33-4C51-931B-D96AA492860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078036-89C2-4C2C-BF46-C0242C8857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0957B1-3C25-40C2-9F30-D53439A42F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9DDC5E-78AD-4220-B086-A35619A4E4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5A424-F4B7-41F9-8457-F6EC01FF1D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27150-94D8-40B9-B4BC-FBDFDE6AC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5B140-DA06-4884-B073-13B7413BA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1E5F1-46ED-48DE-B6F6-BBFD81A8581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A9B7E-938B-45A9-80AC-C8A0D0F4983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221FA-CEB3-487D-A0DC-79206B43E89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C5173D-5D22-48DA-BBC3-844ADF09C9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F553-EAE5-4625-BBB5-8BAC5DAA8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5867B-B753-4A4B-9919-0FE1B3C5A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A2D723-2810-4057-B55E-0E80F70C60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703F6-BE95-43E7-9047-411BD3BE15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160D9-F87D-4D26-8A3D-910A111914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3520A-F4B8-45EB-BDB9-4E28676BAB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2401B-9EBF-498A-9B0C-7752BA16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BF6B-E0DB-4DBD-BE03-D068E67BBF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BD0D8-6563-425A-8F71-012DD8BE0E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4479E-8702-4C90-B4E8-B07CC3604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D7B31-B64B-4CF5-A443-C4F2C72FBE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8E242-3AEB-4BD8-825E-0954FB45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E7D64-7A59-4744-8B5A-DE06A441E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41BAC-B692-402B-B5FF-136438B96E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DFB7D-9BA3-4D05-818B-1B992C6949A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52D27-DD52-4F0F-AFB9-4CD3A73989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2792C1-E89B-48F0-A0A4-0F3C91966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E025AB-178C-48A4-9188-4F50F0933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547BE-881B-431E-A49E-9A1F93215F8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6/10/2026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78F72-1A34-4526-B563-9B8C8DAA861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D8390-5532-48FA-B9B8-B2473EFE31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EA05E-C672-4C07-83A4-6F1079C3E730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006503-BA6D-4E0B-A705-5D3C814C20DF}"/>
              </a:ext>
            </a:extLst>
          </p:cNvPr>
          <p:cNvSpPr>
            <a:spLocks noGrp="1"/>
          </p:cNvSpPr>
          <p:nvPr/>
        </p:nvSpPr>
        <p:spPr>
          <a:xfrm>
            <a:off x="566928" y="1325880"/>
            <a:ext cx="1097280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500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Tema 2.2 Conversión de variables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EBDAB-1E6F-4FF6-85F8-B450F1EC3510}"/>
              </a:ext>
            </a:extLst>
          </p:cNvPr>
          <p:cNvSpPr>
            <a:spLocks noGrp="1"/>
          </p:cNvSpPr>
          <p:nvPr/>
        </p:nvSpPr>
        <p:spPr>
          <a:xfrm>
            <a:off x="566928" y="277063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Coerción, normalización y validación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D62AD-A141-4D9C-BC03-5D40E9ED1EE8}"/>
              </a:ext>
            </a:extLst>
          </p:cNvPr>
          <p:cNvSpPr>
            <a:spLocks noGrp="1"/>
          </p:cNvSpPr>
          <p:nvPr/>
        </p:nvSpPr>
        <p:spPr>
          <a:xfrm>
            <a:off x="566928" y="3429000"/>
            <a:ext cx="50292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Fundamentos de JavaScript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4834A-CF1C-4FA2-BB63-CD1D86684ED7}"/>
              </a:ext>
            </a:extLst>
          </p:cNvPr>
          <p:cNvSpPr>
            <a:spLocks noGrp="1"/>
          </p:cNvSpPr>
          <p:nvPr/>
        </p:nvSpPr>
        <p:spPr>
          <a:xfrm>
            <a:off x="566928" y="5212080"/>
            <a:ext cx="8961120" cy="57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Prof. Bernabé Daniel Inche Ticlavilca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043AF5-5FEF-464A-873C-D1A4DE1616DF}"/>
              </a:ext>
            </a:extLst>
          </p:cNvPr>
          <p:cNvSpPr>
            <a:spLocks noGrp="1"/>
          </p:cNvSpPr>
          <p:nvPr/>
        </p:nvSpPr>
        <p:spPr>
          <a:xfrm>
            <a:off x="566928" y="571500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Escuela de Tecnología – IDAT</a:t>
            </a:r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16636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37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2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77FDA3-751E-43FB-BF44-E8D3FE1C6397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87303-6A71-411D-B2F8-F92FA6183237}"/>
              </a:ext>
            </a:extLst>
          </p:cNvPr>
          <p:cNvSpPr>
            <a:spLocks noGrp="1"/>
          </p:cNvSpPr>
          <p:nvPr/>
        </p:nvSpPr>
        <p:spPr>
          <a:xfrm>
            <a:off x="1143000" y="1600200"/>
            <a:ext cx="996696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Estudiaremos las reglas de conversión explícita e implícita y construiremos parsers seguros para formularios, archivos y API. Diferenciaremos vacío, ausencia, formato inválido y precisión.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E5244B7-C17A-4B94-ACD4-E223AC65A1F2}"/>
              </a:ext>
            </a:extLst>
          </p:cNvPr>
          <p:cNvSpPr>
            <a:spLocks noGrp="1"/>
          </p:cNvSpPr>
          <p:nvPr/>
        </p:nvSpPr>
        <p:spPr>
          <a:xfrm>
            <a:off x="2150211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A8126-2982-41DE-B191-D659283C2064}"/>
              </a:ext>
            </a:extLst>
          </p:cNvPr>
          <p:cNvSpPr>
            <a:spLocks noGrp="1"/>
          </p:cNvSpPr>
          <p:nvPr/>
        </p:nvSpPr>
        <p:spPr>
          <a:xfrm>
            <a:off x="2150211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Number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A91F7B8-BD85-4340-B7A4-71E5B964DC96}"/>
              </a:ext>
            </a:extLst>
          </p:cNvPr>
          <p:cNvSpPr>
            <a:spLocks noGrp="1"/>
          </p:cNvSpPr>
          <p:nvPr/>
        </p:nvSpPr>
        <p:spPr>
          <a:xfrm>
            <a:off x="3768699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47BB1-B981-4F94-AC91-03D2983005C8}"/>
              </a:ext>
            </a:extLst>
          </p:cNvPr>
          <p:cNvSpPr>
            <a:spLocks noGrp="1"/>
          </p:cNvSpPr>
          <p:nvPr/>
        </p:nvSpPr>
        <p:spPr>
          <a:xfrm>
            <a:off x="3768699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String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A9711AC-8AA1-41F2-BEC1-F8F5F0716EB6}"/>
              </a:ext>
            </a:extLst>
          </p:cNvPr>
          <p:cNvSpPr>
            <a:spLocks noGrp="1"/>
          </p:cNvSpPr>
          <p:nvPr/>
        </p:nvSpPr>
        <p:spPr>
          <a:xfrm>
            <a:off x="5387187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187F34-677B-40C1-8728-89B91D6E0C3C}"/>
              </a:ext>
            </a:extLst>
          </p:cNvPr>
          <p:cNvSpPr>
            <a:spLocks noGrp="1"/>
          </p:cNvSpPr>
          <p:nvPr/>
        </p:nvSpPr>
        <p:spPr>
          <a:xfrm>
            <a:off x="5387187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Boolean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CCBE9E2-A858-44D8-8FC2-981526342883}"/>
              </a:ext>
            </a:extLst>
          </p:cNvPr>
          <p:cNvSpPr>
            <a:spLocks noGrp="1"/>
          </p:cNvSpPr>
          <p:nvPr/>
        </p:nvSpPr>
        <p:spPr>
          <a:xfrm>
            <a:off x="7005675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C3A10D-563E-4F84-AD47-A3398A979DA4}"/>
              </a:ext>
            </a:extLst>
          </p:cNvPr>
          <p:cNvSpPr>
            <a:spLocks noGrp="1"/>
          </p:cNvSpPr>
          <p:nvPr/>
        </p:nvSpPr>
        <p:spPr>
          <a:xfrm>
            <a:off x="7005675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NaN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0D299E7-E0E6-4F51-A0F6-850F0661962D}"/>
              </a:ext>
            </a:extLst>
          </p:cNvPr>
          <p:cNvSpPr>
            <a:spLocks noGrp="1"/>
          </p:cNvSpPr>
          <p:nvPr/>
        </p:nvSpPr>
        <p:spPr>
          <a:xfrm>
            <a:off x="8624163" y="4892040"/>
            <a:ext cx="1417320" cy="420624"/>
          </a:xfrm>
          <a:prstGeom prst="roundRect">
            <a:avLst/>
          </a:prstGeom>
          <a:solidFill>
            <a:srgbClr val="561FBE"/>
          </a:solidFill>
          <a:ln>
            <a:solidFill>
              <a:srgbClr val="561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0E30B6-08D4-496E-A093-CDC880FDD0DF}"/>
              </a:ext>
            </a:extLst>
          </p:cNvPr>
          <p:cNvSpPr>
            <a:spLocks noGrp="1"/>
          </p:cNvSpPr>
          <p:nvPr/>
        </p:nvSpPr>
        <p:spPr>
          <a:xfrm>
            <a:off x="8624163" y="4965192"/>
            <a:ext cx="1417320" cy="2514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normalizar</a:t>
            </a:r>
          </a:p>
        </p:txBody>
      </p:sp>
      <p:pic>
        <p:nvPicPr>
          <p:cNvPr id="27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349240"/>
            <a:ext cx="804672" cy="120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3CD71A-BB38-4C0D-9461-8300E3A3A2E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D6D09A-7F3A-4902-AF38-D1CC6D672603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Pipeline de conversión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36F9F-F48F-4852-9C8C-3A19D82536E0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Separar etapas permite localizar el error exacto.</a:t>
            </a:r>
          </a:p>
        </p:txBody>
      </p:sp>
      <p:pic>
        <p:nvPicPr>
          <p:cNvPr id="27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BFFE64-9BE1-47BE-81E9-E67B09142CBF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184013-C728-4E08-B43A-1FBE8AD173DC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2514600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50971-1CA0-4AEC-9437-54F5F5421BC1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645EE611-0F4C-47F7-8DB4-699CFC27180D}"/>
              </a:ext>
            </a:extLst>
          </p:cNvPr>
          <p:cNvSpPr>
            <a:spLocks noGrp="1"/>
          </p:cNvSpPr>
          <p:nvPr/>
        </p:nvSpPr>
        <p:spPr>
          <a:xfrm>
            <a:off x="317296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9CEBC5-8784-4B7A-9F18-1536828F8D65}"/>
              </a:ext>
            </a:extLst>
          </p:cNvPr>
          <p:cNvSpPr>
            <a:spLocks noGrp="1"/>
          </p:cNvSpPr>
          <p:nvPr/>
        </p:nvSpPr>
        <p:spPr>
          <a:xfrm>
            <a:off x="3355848" y="2148840"/>
            <a:ext cx="2514600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B5CB7B-6CF7-45BB-80AC-04EDE8D12591}"/>
              </a:ext>
            </a:extLst>
          </p:cNvPr>
          <p:cNvSpPr>
            <a:spLocks noGrp="1"/>
          </p:cNvSpPr>
          <p:nvPr/>
        </p:nvSpPr>
        <p:spPr>
          <a:xfrm>
            <a:off x="340156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Limpiar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BA4BDC1D-C35D-49ED-B727-DE7AF3196273}"/>
              </a:ext>
            </a:extLst>
          </p:cNvPr>
          <p:cNvSpPr>
            <a:spLocks noGrp="1"/>
          </p:cNvSpPr>
          <p:nvPr/>
        </p:nvSpPr>
        <p:spPr>
          <a:xfrm>
            <a:off x="587044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7624A-3554-4B14-985F-08E22E8EC09D}"/>
              </a:ext>
            </a:extLst>
          </p:cNvPr>
          <p:cNvSpPr>
            <a:spLocks noGrp="1"/>
          </p:cNvSpPr>
          <p:nvPr/>
        </p:nvSpPr>
        <p:spPr>
          <a:xfrm>
            <a:off x="6053328" y="2148840"/>
            <a:ext cx="2514600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0341BA-9300-479E-9F16-B54BBE2B8A6F}"/>
              </a:ext>
            </a:extLst>
          </p:cNvPr>
          <p:cNvSpPr>
            <a:spLocks noGrp="1"/>
          </p:cNvSpPr>
          <p:nvPr/>
        </p:nvSpPr>
        <p:spPr>
          <a:xfrm>
            <a:off x="609904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Convertir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80BC6E3D-AF17-444C-B4B5-34B20B827423}"/>
              </a:ext>
            </a:extLst>
          </p:cNvPr>
          <p:cNvSpPr>
            <a:spLocks noGrp="1"/>
          </p:cNvSpPr>
          <p:nvPr/>
        </p:nvSpPr>
        <p:spPr>
          <a:xfrm>
            <a:off x="8567928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EF321A-793D-445F-9AEE-86667052967F}"/>
              </a:ext>
            </a:extLst>
          </p:cNvPr>
          <p:cNvSpPr>
            <a:spLocks noGrp="1"/>
          </p:cNvSpPr>
          <p:nvPr/>
        </p:nvSpPr>
        <p:spPr>
          <a:xfrm>
            <a:off x="8750808" y="2148840"/>
            <a:ext cx="2514600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DF0113-1256-4A3E-A7E5-1F35A17E29F1}"/>
              </a:ext>
            </a:extLst>
          </p:cNvPr>
          <p:cNvSpPr>
            <a:spLocks noGrp="1"/>
          </p:cNvSpPr>
          <p:nvPr/>
        </p:nvSpPr>
        <p:spPr>
          <a:xfrm>
            <a:off x="8796528" y="2377440"/>
            <a:ext cx="242316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Validar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0565A5-06E2-4028-A1D9-FCC3050AB7A2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678367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CF1110-D6FB-4283-8E8C-4208A6832AAB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27DDB3-7912-45CD-B2C5-B2E9A49009EC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entrada conserva su texto original.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0EDD2-289F-461A-8C89-23079F29A8D4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conversión genera un nuevo valor.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7E0B3E-CB08-4B92-93A8-AA2EDBDE6E9C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validación aplica reglas del dominio.</a:t>
            </a:r>
          </a:p>
        </p:txBody>
      </p:sp>
    </p:spTree>
    <p:extLst>
      <p:ext uri="{BB962C8B-B14F-4D97-AF65-F5344CB8AC3E}">
        <p14:creationId xmlns:p14="http://schemas.microsoft.com/office/powerpoint/2010/main" val="1984215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510502-F7DD-4ACB-90FB-AC6D1AE2FE9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9B454-7D71-4D28-98E0-414FF25515CC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Conversión numérica estricta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1FAF13-66B0-4F90-AD8A-C24D935C48E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Number no debe utilizarse sin validar primero el contenido vacío.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0FE9213-C442-49A3-98E4-A71427258A5D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C84B5-F4B5-49E2-ABAB-93EA69D9345F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657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numeroEstricto(entrada)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texto = String(entrada).trim();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(texto === "")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{ ok: false, error: "VACIO"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valor = Number(texto);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(!Number.isFinite(valor))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{ ok: false, error: "FORMATO"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{ ok: true, valor };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console.log(numeroEstricto(" 25.50 "));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5D9DE-381B-47DD-B32A-FD440547F75A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52FC7C-5F78-434A-8692-4C0BB6547DD9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trim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0667E-44E0-4F3D-8610-87B61EF85172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elimina espacios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3A580748-9176-4DC2-B06C-9709B95D621D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97C59A-E4D1-4CC9-B482-99447A8C9BBB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401C27-F432-4D14-BE2F-93A3AFA760BA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Number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734FD8-866E-4E61-B30F-F916E7264CCB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conversión completa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46D698BF-E9B5-474B-9C6A-6F1643164ED0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26832-D8F6-4F0D-9DAC-466423B5E140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309D3D-EF45-446D-AE53-7BE66F6EE4F0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isFinite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76EC95-E8E2-4F38-82E9-17984ADBCB64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descarta NaN e infinito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10C1629A-DE89-4C6C-9B56-B60A3383B993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7900F1-D4E1-4BA0-BC36-A4B2E7C577EF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3DC054-D2CB-4F67-A618-BDB5D06A5060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resultado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6D9EC0-D82B-40FA-93AF-438EB8431EF6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valor o error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756FC1E2-6742-4C92-ACB8-99CC37BAA3C4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1AED5B-4DEE-4E03-8AC0-0B595AF15979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FFAFB4-8509-4D12-A87F-2B1918FF9146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confundas una cadena vacía con el número cero.</a:t>
            </a:r>
          </a:p>
        </p:txBody>
      </p:sp>
    </p:spTree>
    <p:extLst>
      <p:ext uri="{BB962C8B-B14F-4D97-AF65-F5344CB8AC3E}">
        <p14:creationId xmlns:p14="http://schemas.microsoft.com/office/powerpoint/2010/main" val="316739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D3DA48-7D16-4EBB-9620-34C6E72CA9DF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554BCB-10E5-4EC4-97FF-5A4EF417C9B0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Booleanos externos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C636C-3C01-475E-B965-DC9F0284BCA8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Boolean("false") produce true; el dominio necesita un vocabulario explícito.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071915-3EE2-43D9-BE99-7B6184FDC016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4B9602-E848-4B9B-BD69-EAFFBAD736EB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1897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parseBoolean(entrada)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(typeof entrada === "boolean") return entrada;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1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token = String(entrada)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.trim()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.toLocaleLowerCase("es-PE");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1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(["true", "1", "si", "sí"].includes(token)) return true;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(["false", "0", "no"].includes(token)) return false;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1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throw new TypeError(`Booleano inválido: ${entrada}`);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13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1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console.log(parseBoolean("NO"));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EB2D4-255F-470B-8815-C7349721ED53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E8F36E-92AB-404B-8A41-5E8C27FFBC9B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truthy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004B14-CC51-4B0D-89E2-F5E1AB4A9838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 interpreta texto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A0972AC9-4F45-4E9B-A2C5-69F258C6461D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C2996A-DF6C-4CE2-A7C7-14283D7FC5AA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06719-8F4C-45B2-9190-025B9DEA1E3C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token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5694D6-629E-4091-90DD-166D7A5B73A7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valor normalizado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3A9C3319-2D36-4007-8007-872E47DC60BA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3F3E90-9364-4A31-B02F-78E7D68C1523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B11DFF-F660-4CAD-8C06-B31DDE318F97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dominio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0014C5-3A08-484A-84D4-EA666920D13D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vocabulario permitido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BD1A8CBD-A6C1-47BE-AF59-3175051C2BAA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E4CA16-7D36-47FA-8BA8-475C9CE4AF86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45B245-289E-472B-9CA8-61155708BB7E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TypeError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727BB2-48FB-4BE6-8B28-3DFCC250739F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rechaza ambigüedad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64E1B8A8-9773-460F-BD11-7CFC6EAC4A34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E691FD-FFBA-42BB-A087-BF2150CAB68E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712BDB-0A99-4275-85F5-42DF281BF693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Convertir no significa interpretar: la regla del negocio debe ser explícita.</a:t>
            </a:r>
          </a:p>
        </p:txBody>
      </p:sp>
    </p:spTree>
    <p:extLst>
      <p:ext uri="{BB962C8B-B14F-4D97-AF65-F5344CB8AC3E}">
        <p14:creationId xmlns:p14="http://schemas.microsoft.com/office/powerpoint/2010/main" val="112444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B6C5DC-AE3B-4E4E-909F-3B18ED21939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8DFEF-7693-496E-BD9A-F7E222B8262F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Funciones de conversión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79C4F-3DCE-42DC-BF52-D668996BD66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Cada herramienta tiene tolerancia y riesgos distintos.</a:t>
            </a:r>
          </a:p>
        </p:txBody>
      </p:sp>
      <p:pic>
        <p:nvPicPr>
          <p:cNvPr id="6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90BA7C-0633-4CC4-87F0-BC6FDE8D6E70}"/>
              </a:ext>
            </a:extLst>
          </p:cNvPr>
          <p:cNvSpPr>
            <a:spLocks noGrp="1"/>
          </p:cNvSpPr>
          <p:nvPr/>
        </p:nvSpPr>
        <p:spPr>
          <a:xfrm>
            <a:off x="466344" y="2017776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DE53E7-9A59-444F-93ED-78D1F55A30BE}"/>
              </a:ext>
            </a:extLst>
          </p:cNvPr>
          <p:cNvSpPr>
            <a:spLocks noGrp="1"/>
          </p:cNvSpPr>
          <p:nvPr/>
        </p:nvSpPr>
        <p:spPr>
          <a:xfrm>
            <a:off x="502920" y="2136648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5A5323-FF67-4BF0-829E-9A0CA6DDAFF6}"/>
              </a:ext>
            </a:extLst>
          </p:cNvPr>
          <p:cNvSpPr>
            <a:spLocks noGrp="1"/>
          </p:cNvSpPr>
          <p:nvPr/>
        </p:nvSpPr>
        <p:spPr>
          <a:xfrm>
            <a:off x="2660904" y="2017776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F240C-8DD8-4B53-8221-673962552990}"/>
              </a:ext>
            </a:extLst>
          </p:cNvPr>
          <p:cNvSpPr>
            <a:spLocks noGrp="1"/>
          </p:cNvSpPr>
          <p:nvPr/>
        </p:nvSpPr>
        <p:spPr>
          <a:xfrm>
            <a:off x="2697480" y="2136648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Number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33F0AA-621A-42EC-90A6-393E269BC4F1}"/>
              </a:ext>
            </a:extLst>
          </p:cNvPr>
          <p:cNvSpPr>
            <a:spLocks noGrp="1"/>
          </p:cNvSpPr>
          <p:nvPr/>
        </p:nvSpPr>
        <p:spPr>
          <a:xfrm>
            <a:off x="4855464" y="2017776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9CE16-B1FC-4634-8D8A-42B7CBA2EA04}"/>
              </a:ext>
            </a:extLst>
          </p:cNvPr>
          <p:cNvSpPr>
            <a:spLocks noGrp="1"/>
          </p:cNvSpPr>
          <p:nvPr/>
        </p:nvSpPr>
        <p:spPr>
          <a:xfrm>
            <a:off x="4892040" y="2136648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parseInt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CD3653-BA18-4883-B5F8-3F36E82800BA}"/>
              </a:ext>
            </a:extLst>
          </p:cNvPr>
          <p:cNvSpPr>
            <a:spLocks noGrp="1"/>
          </p:cNvSpPr>
          <p:nvPr/>
        </p:nvSpPr>
        <p:spPr>
          <a:xfrm>
            <a:off x="7050023" y="2017776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65760D-18E2-42C2-8DD0-BF837B61C322}"/>
              </a:ext>
            </a:extLst>
          </p:cNvPr>
          <p:cNvSpPr>
            <a:spLocks noGrp="1"/>
          </p:cNvSpPr>
          <p:nvPr/>
        </p:nvSpPr>
        <p:spPr>
          <a:xfrm>
            <a:off x="7086599" y="2136648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Boolean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4DB453-CE51-484C-B07A-75ECB10DAF00}"/>
              </a:ext>
            </a:extLst>
          </p:cNvPr>
          <p:cNvSpPr>
            <a:spLocks noGrp="1"/>
          </p:cNvSpPr>
          <p:nvPr/>
        </p:nvSpPr>
        <p:spPr>
          <a:xfrm>
            <a:off x="9244584" y="2017776"/>
            <a:ext cx="2194560" cy="502920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ADC50-76F0-4217-B1D3-01A5E3743ACC}"/>
              </a:ext>
            </a:extLst>
          </p:cNvPr>
          <p:cNvSpPr>
            <a:spLocks noGrp="1"/>
          </p:cNvSpPr>
          <p:nvPr/>
        </p:nvSpPr>
        <p:spPr>
          <a:xfrm>
            <a:off x="9281160" y="2136648"/>
            <a:ext cx="21214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Decisión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FC8FF-90D9-42F1-8CC3-172EB565B8B1}"/>
              </a:ext>
            </a:extLst>
          </p:cNvPr>
          <p:cNvSpPr>
            <a:spLocks noGrp="1"/>
          </p:cNvSpPr>
          <p:nvPr/>
        </p:nvSpPr>
        <p:spPr>
          <a:xfrm>
            <a:off x="466344" y="2520696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D77504-4529-4617-82F4-53E82B5E9311}"/>
              </a:ext>
            </a:extLst>
          </p:cNvPr>
          <p:cNvSpPr>
            <a:spLocks noGrp="1"/>
          </p:cNvSpPr>
          <p:nvPr/>
        </p:nvSpPr>
        <p:spPr>
          <a:xfrm>
            <a:off x="493776" y="2602992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"25"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30F6C2-6BFD-4174-8B70-BB9DE13B3F83}"/>
              </a:ext>
            </a:extLst>
          </p:cNvPr>
          <p:cNvSpPr>
            <a:spLocks noGrp="1"/>
          </p:cNvSpPr>
          <p:nvPr/>
        </p:nvSpPr>
        <p:spPr>
          <a:xfrm>
            <a:off x="2660904" y="2520696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A61B0-D768-4E73-BCBD-32FD251D107E}"/>
              </a:ext>
            </a:extLst>
          </p:cNvPr>
          <p:cNvSpPr>
            <a:spLocks noGrp="1"/>
          </p:cNvSpPr>
          <p:nvPr/>
        </p:nvSpPr>
        <p:spPr>
          <a:xfrm>
            <a:off x="2688336" y="2602992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17EA93-4818-47A3-AD56-5B64794915E6}"/>
              </a:ext>
            </a:extLst>
          </p:cNvPr>
          <p:cNvSpPr>
            <a:spLocks noGrp="1"/>
          </p:cNvSpPr>
          <p:nvPr/>
        </p:nvSpPr>
        <p:spPr>
          <a:xfrm>
            <a:off x="4855464" y="2520696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7A8E53-C9D5-4F7C-A669-EB1017E34D59}"/>
              </a:ext>
            </a:extLst>
          </p:cNvPr>
          <p:cNvSpPr>
            <a:spLocks noGrp="1"/>
          </p:cNvSpPr>
          <p:nvPr/>
        </p:nvSpPr>
        <p:spPr>
          <a:xfrm>
            <a:off x="4882896" y="2602992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FB6527-276E-4A12-BFA5-9D18E3BD83EB}"/>
              </a:ext>
            </a:extLst>
          </p:cNvPr>
          <p:cNvSpPr>
            <a:spLocks noGrp="1"/>
          </p:cNvSpPr>
          <p:nvPr/>
        </p:nvSpPr>
        <p:spPr>
          <a:xfrm>
            <a:off x="7050023" y="2520696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F48429-5B8A-4E90-A428-D34D6978CC61}"/>
              </a:ext>
            </a:extLst>
          </p:cNvPr>
          <p:cNvSpPr>
            <a:spLocks noGrp="1"/>
          </p:cNvSpPr>
          <p:nvPr/>
        </p:nvSpPr>
        <p:spPr>
          <a:xfrm>
            <a:off x="7077455" y="2602992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AEA55F-1157-41DC-B0C8-34A4DDBF377F}"/>
              </a:ext>
            </a:extLst>
          </p:cNvPr>
          <p:cNvSpPr>
            <a:spLocks noGrp="1"/>
          </p:cNvSpPr>
          <p:nvPr/>
        </p:nvSpPr>
        <p:spPr>
          <a:xfrm>
            <a:off x="9244584" y="2520696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9D98F1-3A51-46FA-93A9-BB375FB0D797}"/>
              </a:ext>
            </a:extLst>
          </p:cNvPr>
          <p:cNvSpPr>
            <a:spLocks noGrp="1"/>
          </p:cNvSpPr>
          <p:nvPr/>
        </p:nvSpPr>
        <p:spPr>
          <a:xfrm>
            <a:off x="9272016" y="2602992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Número válido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B8C6F8-D715-46B7-A391-2A0A019D35B1}"/>
              </a:ext>
            </a:extLst>
          </p:cNvPr>
          <p:cNvSpPr>
            <a:spLocks noGrp="1"/>
          </p:cNvSpPr>
          <p:nvPr/>
        </p:nvSpPr>
        <p:spPr>
          <a:xfrm>
            <a:off x="466344" y="3051048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85BE23-DD30-4979-94A0-CFB38D07E510}"/>
              </a:ext>
            </a:extLst>
          </p:cNvPr>
          <p:cNvSpPr>
            <a:spLocks noGrp="1"/>
          </p:cNvSpPr>
          <p:nvPr/>
        </p:nvSpPr>
        <p:spPr>
          <a:xfrm>
            <a:off x="493776" y="313334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"25px"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166112-31E0-48F9-8CDD-394276223A0A}"/>
              </a:ext>
            </a:extLst>
          </p:cNvPr>
          <p:cNvSpPr>
            <a:spLocks noGrp="1"/>
          </p:cNvSpPr>
          <p:nvPr/>
        </p:nvSpPr>
        <p:spPr>
          <a:xfrm>
            <a:off x="2660904" y="3051048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87FF98-1A4C-42D8-B5A9-A3BB7A8EC6DB}"/>
              </a:ext>
            </a:extLst>
          </p:cNvPr>
          <p:cNvSpPr>
            <a:spLocks noGrp="1"/>
          </p:cNvSpPr>
          <p:nvPr/>
        </p:nvSpPr>
        <p:spPr>
          <a:xfrm>
            <a:off x="2688336" y="313334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NaN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C85C0D-3580-400B-B9A0-0D18158EF678}"/>
              </a:ext>
            </a:extLst>
          </p:cNvPr>
          <p:cNvSpPr>
            <a:spLocks noGrp="1"/>
          </p:cNvSpPr>
          <p:nvPr/>
        </p:nvSpPr>
        <p:spPr>
          <a:xfrm>
            <a:off x="4855464" y="3051048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649118F-0D64-41C0-A30B-091AB5EFCB42}"/>
              </a:ext>
            </a:extLst>
          </p:cNvPr>
          <p:cNvSpPr>
            <a:spLocks noGrp="1"/>
          </p:cNvSpPr>
          <p:nvPr/>
        </p:nvSpPr>
        <p:spPr>
          <a:xfrm>
            <a:off x="4882896" y="313334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25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1DDAC7-ED6E-4784-8B76-DD91C1F42E73}"/>
              </a:ext>
            </a:extLst>
          </p:cNvPr>
          <p:cNvSpPr>
            <a:spLocks noGrp="1"/>
          </p:cNvSpPr>
          <p:nvPr/>
        </p:nvSpPr>
        <p:spPr>
          <a:xfrm>
            <a:off x="7050023" y="3051048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83C317-8259-4F0D-AA0E-1CC90681FAC8}"/>
              </a:ext>
            </a:extLst>
          </p:cNvPr>
          <p:cNvSpPr>
            <a:spLocks noGrp="1"/>
          </p:cNvSpPr>
          <p:nvPr/>
        </p:nvSpPr>
        <p:spPr>
          <a:xfrm>
            <a:off x="7077455" y="313334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true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BD4FC6-4040-42C3-807C-38C29A844509}"/>
              </a:ext>
            </a:extLst>
          </p:cNvPr>
          <p:cNvSpPr>
            <a:spLocks noGrp="1"/>
          </p:cNvSpPr>
          <p:nvPr/>
        </p:nvSpPr>
        <p:spPr>
          <a:xfrm>
            <a:off x="9244584" y="3051048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D88B2C0-710B-4527-A705-76F4C0675EBF}"/>
              </a:ext>
            </a:extLst>
          </p:cNvPr>
          <p:cNvSpPr>
            <a:spLocks noGrp="1"/>
          </p:cNvSpPr>
          <p:nvPr/>
        </p:nvSpPr>
        <p:spPr>
          <a:xfrm>
            <a:off x="9272016" y="3133344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Rechazar o parsear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B77C57-89DA-47A4-BD28-F08E93FF18FA}"/>
              </a:ext>
            </a:extLst>
          </p:cNvPr>
          <p:cNvSpPr>
            <a:spLocks noGrp="1"/>
          </p:cNvSpPr>
          <p:nvPr/>
        </p:nvSpPr>
        <p:spPr>
          <a:xfrm>
            <a:off x="466344" y="3581400"/>
            <a:ext cx="2194560" cy="5303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72E357-EFAD-4FFA-A08F-4EDABACDC3AB}"/>
              </a:ext>
            </a:extLst>
          </p:cNvPr>
          <p:cNvSpPr>
            <a:spLocks noGrp="1"/>
          </p:cNvSpPr>
          <p:nvPr/>
        </p:nvSpPr>
        <p:spPr>
          <a:xfrm>
            <a:off x="493776" y="3663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""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79B7E9A-FCCB-4EB0-BD15-66853906AA84}"/>
              </a:ext>
            </a:extLst>
          </p:cNvPr>
          <p:cNvSpPr>
            <a:spLocks noGrp="1"/>
          </p:cNvSpPr>
          <p:nvPr/>
        </p:nvSpPr>
        <p:spPr>
          <a:xfrm>
            <a:off x="2660904" y="358140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DE494B-DB99-422C-95E2-06808C5349E6}"/>
              </a:ext>
            </a:extLst>
          </p:cNvPr>
          <p:cNvSpPr>
            <a:spLocks noGrp="1"/>
          </p:cNvSpPr>
          <p:nvPr/>
        </p:nvSpPr>
        <p:spPr>
          <a:xfrm>
            <a:off x="2688336" y="3663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664A3A-7C75-4E14-A129-87F9EA84F24E}"/>
              </a:ext>
            </a:extLst>
          </p:cNvPr>
          <p:cNvSpPr>
            <a:spLocks noGrp="1"/>
          </p:cNvSpPr>
          <p:nvPr/>
        </p:nvSpPr>
        <p:spPr>
          <a:xfrm>
            <a:off x="4855464" y="3581400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87E4C9E-0F76-44F5-8FE4-09CE88C9B5FF}"/>
              </a:ext>
            </a:extLst>
          </p:cNvPr>
          <p:cNvSpPr>
            <a:spLocks noGrp="1"/>
          </p:cNvSpPr>
          <p:nvPr/>
        </p:nvSpPr>
        <p:spPr>
          <a:xfrm>
            <a:off x="4882896" y="3663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NaN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2E8848E-9D48-4299-9DBF-47F5BDE9383B}"/>
              </a:ext>
            </a:extLst>
          </p:cNvPr>
          <p:cNvSpPr>
            <a:spLocks noGrp="1"/>
          </p:cNvSpPr>
          <p:nvPr/>
        </p:nvSpPr>
        <p:spPr>
          <a:xfrm>
            <a:off x="7050023" y="3581400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4B827A7-CAF6-4AE8-A5D2-D8D6A732634C}"/>
              </a:ext>
            </a:extLst>
          </p:cNvPr>
          <p:cNvSpPr>
            <a:spLocks noGrp="1"/>
          </p:cNvSpPr>
          <p:nvPr/>
        </p:nvSpPr>
        <p:spPr>
          <a:xfrm>
            <a:off x="7077455" y="3663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false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D0849F-0BA6-4D01-A8CC-8C7E554C7142}"/>
              </a:ext>
            </a:extLst>
          </p:cNvPr>
          <p:cNvSpPr>
            <a:spLocks noGrp="1"/>
          </p:cNvSpPr>
          <p:nvPr/>
        </p:nvSpPr>
        <p:spPr>
          <a:xfrm>
            <a:off x="9244584" y="3581400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574D0E-52E0-451A-8C75-6AF6C1651B13}"/>
              </a:ext>
            </a:extLst>
          </p:cNvPr>
          <p:cNvSpPr>
            <a:spLocks noGrp="1"/>
          </p:cNvSpPr>
          <p:nvPr/>
        </p:nvSpPr>
        <p:spPr>
          <a:xfrm>
            <a:off x="9272016" y="3663696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Tratar como vacío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9CAA022-AD0B-4029-AD89-99D4E221122F}"/>
              </a:ext>
            </a:extLst>
          </p:cNvPr>
          <p:cNvSpPr>
            <a:spLocks noGrp="1"/>
          </p:cNvSpPr>
          <p:nvPr/>
        </p:nvSpPr>
        <p:spPr>
          <a:xfrm>
            <a:off x="466344" y="4111752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F73798-3992-4EFD-8792-3AFDDA4D8782}"/>
              </a:ext>
            </a:extLst>
          </p:cNvPr>
          <p:cNvSpPr>
            <a:spLocks noGrp="1"/>
          </p:cNvSpPr>
          <p:nvPr/>
        </p:nvSpPr>
        <p:spPr>
          <a:xfrm>
            <a:off x="493776" y="4194047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null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E73045-7FBF-4AA9-B443-FC82D179929E}"/>
              </a:ext>
            </a:extLst>
          </p:cNvPr>
          <p:cNvSpPr>
            <a:spLocks noGrp="1"/>
          </p:cNvSpPr>
          <p:nvPr/>
        </p:nvSpPr>
        <p:spPr>
          <a:xfrm>
            <a:off x="2660904" y="4111752"/>
            <a:ext cx="2194560" cy="5303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A21A224-5ACC-49AD-BF0B-25B565AFEBC8}"/>
              </a:ext>
            </a:extLst>
          </p:cNvPr>
          <p:cNvSpPr>
            <a:spLocks noGrp="1"/>
          </p:cNvSpPr>
          <p:nvPr/>
        </p:nvSpPr>
        <p:spPr>
          <a:xfrm>
            <a:off x="2688336" y="4194047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3D9834D-E922-4683-9023-34FD79771769}"/>
              </a:ext>
            </a:extLst>
          </p:cNvPr>
          <p:cNvSpPr>
            <a:spLocks noGrp="1"/>
          </p:cNvSpPr>
          <p:nvPr/>
        </p:nvSpPr>
        <p:spPr>
          <a:xfrm>
            <a:off x="4855464" y="4111752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BD54183-2C24-42C7-B9C3-1584C44B8B50}"/>
              </a:ext>
            </a:extLst>
          </p:cNvPr>
          <p:cNvSpPr>
            <a:spLocks noGrp="1"/>
          </p:cNvSpPr>
          <p:nvPr/>
        </p:nvSpPr>
        <p:spPr>
          <a:xfrm>
            <a:off x="4882896" y="4194047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NaN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A3DB5DB-BAAD-4218-8A7D-FAEC019FC5F8}"/>
              </a:ext>
            </a:extLst>
          </p:cNvPr>
          <p:cNvSpPr>
            <a:spLocks noGrp="1"/>
          </p:cNvSpPr>
          <p:nvPr/>
        </p:nvSpPr>
        <p:spPr>
          <a:xfrm>
            <a:off x="7050023" y="4111752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38CC62E-9EE7-4BA6-AF90-4ED9B555A210}"/>
              </a:ext>
            </a:extLst>
          </p:cNvPr>
          <p:cNvSpPr>
            <a:spLocks noGrp="1"/>
          </p:cNvSpPr>
          <p:nvPr/>
        </p:nvSpPr>
        <p:spPr>
          <a:xfrm>
            <a:off x="7077455" y="4194047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false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B783FC-A866-4FA9-9983-5EB9B516251A}"/>
              </a:ext>
            </a:extLst>
          </p:cNvPr>
          <p:cNvSpPr>
            <a:spLocks noGrp="1"/>
          </p:cNvSpPr>
          <p:nvPr/>
        </p:nvSpPr>
        <p:spPr>
          <a:xfrm>
            <a:off x="9244584" y="4111752"/>
            <a:ext cx="2194560" cy="5303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68F9D6-DC81-4BF9-AC85-CB1ED59D8776}"/>
              </a:ext>
            </a:extLst>
          </p:cNvPr>
          <p:cNvSpPr>
            <a:spLocks noGrp="1"/>
          </p:cNvSpPr>
          <p:nvPr/>
        </p:nvSpPr>
        <p:spPr>
          <a:xfrm>
            <a:off x="9272016" y="4194047"/>
            <a:ext cx="2139696" cy="289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Ausencia explícita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5DEE272-DBB9-4BE2-89BE-78283B9F876E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2DF16B-D6F2-452E-8239-EF2C8516F00D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función correcta depende del contrato, no de obtener cualquier resultado.</a:t>
            </a:r>
          </a:p>
        </p:txBody>
      </p:sp>
    </p:spTree>
    <p:extLst>
      <p:ext uri="{BB962C8B-B14F-4D97-AF65-F5344CB8AC3E}">
        <p14:creationId xmlns:p14="http://schemas.microsoft.com/office/powerpoint/2010/main" val="19914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E8654A-AD20-415F-B2B9-22EED268645A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D70AD-1B12-42FF-A4C0-EC09EE38E420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Normalización Unicode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E59EBB-31ED-4F4C-9040-72B8AE557CBD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Texto visualmente igual puede usar secuencias Unicode diferentes.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8344F4-2173-4C61-A585-795FF850F50A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38199F-AD39-41BA-BE8C-6EB088C5EC81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520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claveTexto(valor) {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String(valor)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.normalize("NFC")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.trim()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.toLocaleLowerCase("es-PE");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2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a = "café";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b = "cafe\u0301";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2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console.log(a === b); // false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console.log(claveTexto(a) === claveTexto(b)); // true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425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correo = claveTexto("  ANA@IDAT.EDU.PE  " );</a:t>
            </a:r>
          </a:p>
          <a:p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console.log(correo);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6FE68-643C-48CE-83C4-A14546E67701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D06E1-C035-49AE-AB98-6D2C74B60479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NFC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BBCAA-82FF-451D-8CD8-9BCA1726E968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forma canónica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DDBEE826-77BB-4B0B-A044-A4766F26D76D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ED3D79-7F24-4532-AFC4-08B39EDA2753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523FE1-8D61-41D1-B3F2-87DB53F07150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trim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0A6A35-069B-4BF0-95A9-BB05601D6319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limpia bordes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032512D6-D4E1-4283-B7BD-BDB60B9B10CD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77C6A6-E60D-4B9E-8D83-73DDA41B8401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6A5740-AB1F-4C25-8669-956209E1B213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locale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8B68F3-50C9-4F97-9683-A0EF5824EDAC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reglas regionales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27F21E67-1C64-49E8-BA50-25DD1CF65772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CF9F20-AA0D-45B4-839E-5F84EC9F04E2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094376-67A6-4B16-851B-B68B67C89EB8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clave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AB5662-EE69-4943-A0DF-0B1CDABCB54E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comparación estable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A100EDAA-FEF2-4301-A6EB-17524585D47D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FF9DD9-45B3-4472-8066-281A34E0E902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E62C8F-C5E1-4305-A9CD-26FA855A76A0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Normaliza antes de comparar, indexar o detectar duplicados.</a:t>
            </a:r>
          </a:p>
        </p:txBody>
      </p:sp>
    </p:spTree>
    <p:extLst>
      <p:ext uri="{BB962C8B-B14F-4D97-AF65-F5344CB8AC3E}">
        <p14:creationId xmlns:p14="http://schemas.microsoft.com/office/powerpoint/2010/main" val="169007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65BDDF-A006-47FF-9A0B-77EBBB900D68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0D46B-75A3-4346-8C96-1C7BBF08E912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Montos y precisión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BC968F-B33D-46F3-B3C6-82CDB31C3C83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Para dinero sencillo, convierte a unidades mínimas antes de calcular.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7BED56-C8D9-4885-98A8-FB837FF9FAAD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4E57A-C4A5-4623-866F-A94988A46E9F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5204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aCentimos(texto)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limpio = String(texto)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.trim()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.replaceAll(",", "");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(!/^\d+(\.\d{1,2})?$/.test(limpio))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throw new Error("Formato monetario inválido");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Math.round(Number(limpio) * 100);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endParaRPr sz="1350" b="0">
              <a:solidFill>
                <a:srgbClr val="161616"/>
              </a:solidFill>
              <a:latin typeface="Consolas"/>
              <a:ea typeface="Consolas"/>
              <a:cs typeface="Consolas"/>
            </a:endParaRP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precios = ["10.50", "0.30", "125.99"];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totalCentimos = precios.reduce((s, p) =&gt; s + aCentimos(p), 0);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console.log((totalCentimos / 100).toFixed(2));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DFBCD-C8A5-4F96-8A2B-1CFB0DF5C48A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08CF9F-3DCF-426D-9813-D656785342D5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regex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E3EA3-DE9C-4CE7-B07F-DA21563AEA28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 formato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4A439675-A8C6-4667-B925-E006A37FB58B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94BF2-B70C-4B63-9240-A069D6C7315D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31E74-13A0-4920-9E65-91789A2E03D1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centimos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6E19FD-9261-47EB-9093-50364AB5E569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entero exacto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1A0D41E3-691E-43A8-95A9-C08DB52CE54F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E6DD5-88D8-42A2-A8B1-98D274FEBDFF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5B5E4-8D52-4A11-AB5E-C615095B6E3A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AE6BD-96B0-4249-9225-A791F3C2FCB4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controla conversión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58652F77-B2B3-4D7D-BF23-C6C102AD544F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F21AF1-A9D5-4AEB-AA0D-C38A2BDCD3E2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2AF23-3E1E-40DC-AA3D-D35F3D14FE06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toFixed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CE4B3-676B-4D8A-901B-382C60631115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solo presentación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8A00B8E6-7A75-43D5-80B0-7FBE316ECD18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A747E0-4465-4078-8EF6-55A18F573976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821B1F-0C1D-418E-93C9-DC67EBDD46F2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precisión se protege durante el cálculo y se formatea al mostrar.</a:t>
            </a:r>
          </a:p>
        </p:txBody>
      </p:sp>
    </p:spTree>
    <p:extLst>
      <p:ext uri="{BB962C8B-B14F-4D97-AF65-F5344CB8AC3E}">
        <p14:creationId xmlns:p14="http://schemas.microsoft.com/office/powerpoint/2010/main" val="825696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6B6B29-0DA9-4A70-836A-1DC994DF46EB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DF565-8D4A-45B3-8441-7F4A94888D59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Normalizador de registros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FD6039-7337-4E65-BEB8-A2D04BEE592B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Extraer, convertir y validar en etapas produce errores trazables.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B22FB3-20E4-4FC3-9CC7-84B0260DD843}"/>
              </a:ext>
            </a:extLst>
          </p:cNvPr>
          <p:cNvSpPr>
            <a:spLocks noGrp="1"/>
          </p:cNvSpPr>
          <p:nvPr/>
        </p:nvSpPr>
        <p:spPr>
          <a:xfrm>
            <a:off x="566928" y="1691640"/>
            <a:ext cx="5806440" cy="3657600"/>
          </a:xfrm>
          <a:prstGeom prst="rect">
            <a:avLst/>
          </a:prstGeom>
          <a:solidFill>
            <a:srgbClr val="F7F7F9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7786C-4F92-44E3-9568-2CBD98553A64}"/>
              </a:ext>
            </a:extLst>
          </p:cNvPr>
          <p:cNvSpPr>
            <a:spLocks noGrp="1"/>
          </p:cNvSpPr>
          <p:nvPr/>
        </p:nvSpPr>
        <p:spPr>
          <a:xfrm>
            <a:off x="749808" y="1865376"/>
            <a:ext cx="5440680" cy="31045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function normalizarFila(fila)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errores = [];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monto = numeroEstricto(String(fila.monto).replaceAll(",", ""));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cantidad = numeroEstricto(fila.cantidad);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(!monto.ok) errores.push({ campo: "monto", causa: monto.error });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if (!cantidad.ok || !Number.isInteger(cantidad.valor))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errores.push({ campo: "cantidad", causa: "ENTERO" });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datos: {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codigo: String(fila.codigo).trim().toUpperCase(),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monto: monto.ok ? monto.valor : null,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activo: parseBoolean(fila.activo)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},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errores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};</a:t>
            </a:r>
          </a:p>
          <a:p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2067BC-658E-4FB6-BA6D-F4C3BCA1577B}"/>
              </a:ext>
            </a:extLst>
          </p:cNvPr>
          <p:cNvSpPr>
            <a:spLocks noGrp="1"/>
          </p:cNvSpPr>
          <p:nvPr/>
        </p:nvSpPr>
        <p:spPr>
          <a:xfrm>
            <a:off x="6720840" y="1719072"/>
            <a:ext cx="4343400" cy="694944"/>
          </a:xfrm>
          <a:prstGeom prst="rect">
            <a:avLst/>
          </a:prstGeom>
          <a:solidFill>
            <a:srgbClr val="ECF8F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F1227-C3D6-465F-AF8D-E747AA4E5083}"/>
              </a:ext>
            </a:extLst>
          </p:cNvPr>
          <p:cNvSpPr>
            <a:spLocks noGrp="1"/>
          </p:cNvSpPr>
          <p:nvPr/>
        </p:nvSpPr>
        <p:spPr>
          <a:xfrm>
            <a:off x="6876288" y="1792224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extracción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8EF7B9-3655-4536-9A46-01C3057E9670}"/>
              </a:ext>
            </a:extLst>
          </p:cNvPr>
          <p:cNvSpPr>
            <a:spLocks noGrp="1"/>
          </p:cNvSpPr>
          <p:nvPr/>
        </p:nvSpPr>
        <p:spPr>
          <a:xfrm>
            <a:off x="6876288" y="2048255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conserva origen</a:t>
            </a:r>
          </a:p>
        </p:txBody>
      </p:sp>
      <p:sp>
        <p:nvSpPr>
          <p:cNvPr id="11" name="Connector 10">
            <a:extLst>
              <a:ext uri="{FF2B5EF4-FFF2-40B4-BE49-F238E27FC236}">
                <a16:creationId xmlns:a16="http://schemas.microsoft.com/office/drawing/2014/main" id="{29F3E3D4-5735-4F9F-9AF4-5D692F2F3E1F}"/>
              </a:ext>
            </a:extLst>
          </p:cNvPr>
          <p:cNvSpPr>
            <a:spLocks noGrp="1"/>
          </p:cNvSpPr>
          <p:nvPr/>
        </p:nvSpPr>
        <p:spPr>
          <a:xfrm>
            <a:off x="6382512" y="2066543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1172EE-92C5-4942-B73F-4B1D990A8BEB}"/>
              </a:ext>
            </a:extLst>
          </p:cNvPr>
          <p:cNvSpPr>
            <a:spLocks noGrp="1"/>
          </p:cNvSpPr>
          <p:nvPr/>
        </p:nvSpPr>
        <p:spPr>
          <a:xfrm>
            <a:off x="6720840" y="2596896"/>
            <a:ext cx="4343400" cy="694944"/>
          </a:xfrm>
          <a:prstGeom prst="rect">
            <a:avLst/>
          </a:prstGeom>
          <a:solidFill>
            <a:srgbClr val="EBF6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0201E-3000-444F-874C-D50C750590CA}"/>
              </a:ext>
            </a:extLst>
          </p:cNvPr>
          <p:cNvSpPr>
            <a:spLocks noGrp="1"/>
          </p:cNvSpPr>
          <p:nvPr/>
        </p:nvSpPr>
        <p:spPr>
          <a:xfrm>
            <a:off x="6876288" y="2670048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conversión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A05FA0-C592-466E-A150-243BFC6F6AE9}"/>
              </a:ext>
            </a:extLst>
          </p:cNvPr>
          <p:cNvSpPr>
            <a:spLocks noGrp="1"/>
          </p:cNvSpPr>
          <p:nvPr/>
        </p:nvSpPr>
        <p:spPr>
          <a:xfrm>
            <a:off x="6876288" y="2926079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produce tipos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EF9CE883-1503-4DDA-AEA2-42B648B75DFA}"/>
              </a:ext>
            </a:extLst>
          </p:cNvPr>
          <p:cNvSpPr>
            <a:spLocks noGrp="1"/>
          </p:cNvSpPr>
          <p:nvPr/>
        </p:nvSpPr>
        <p:spPr>
          <a:xfrm>
            <a:off x="6382512" y="2944368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0A87B2-49B0-4857-AF57-FACCB264A7A3}"/>
              </a:ext>
            </a:extLst>
          </p:cNvPr>
          <p:cNvSpPr>
            <a:spLocks noGrp="1"/>
          </p:cNvSpPr>
          <p:nvPr/>
        </p:nvSpPr>
        <p:spPr>
          <a:xfrm>
            <a:off x="6720840" y="3474720"/>
            <a:ext cx="4343400" cy="694944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80014C-7CA0-43D6-B434-653EED072363}"/>
              </a:ext>
            </a:extLst>
          </p:cNvPr>
          <p:cNvSpPr>
            <a:spLocks noGrp="1"/>
          </p:cNvSpPr>
          <p:nvPr/>
        </p:nvSpPr>
        <p:spPr>
          <a:xfrm>
            <a:off x="6876288" y="3547872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validación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AFDD89-375F-4C38-8E17-D3C08DEA78FC}"/>
              </a:ext>
            </a:extLst>
          </p:cNvPr>
          <p:cNvSpPr>
            <a:spLocks noGrp="1"/>
          </p:cNvSpPr>
          <p:nvPr/>
        </p:nvSpPr>
        <p:spPr>
          <a:xfrm>
            <a:off x="6876288" y="3803904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reglas del dominio</a:t>
            </a:r>
          </a:p>
        </p:txBody>
      </p:sp>
      <p:sp>
        <p:nvSpPr>
          <p:cNvPr id="19" name="Connector 18">
            <a:extLst>
              <a:ext uri="{FF2B5EF4-FFF2-40B4-BE49-F238E27FC236}">
                <a16:creationId xmlns:a16="http://schemas.microsoft.com/office/drawing/2014/main" id="{3AEF9A6E-9959-46D2-86F3-B3DF59711014}"/>
              </a:ext>
            </a:extLst>
          </p:cNvPr>
          <p:cNvSpPr>
            <a:spLocks noGrp="1"/>
          </p:cNvSpPr>
          <p:nvPr/>
        </p:nvSpPr>
        <p:spPr>
          <a:xfrm>
            <a:off x="6382512" y="3822191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B9E1A-A76F-4B64-9B48-AEF51A2928B2}"/>
              </a:ext>
            </a:extLst>
          </p:cNvPr>
          <p:cNvSpPr>
            <a:spLocks noGrp="1"/>
          </p:cNvSpPr>
          <p:nvPr/>
        </p:nvSpPr>
        <p:spPr>
          <a:xfrm>
            <a:off x="6720840" y="4352544"/>
            <a:ext cx="4343400" cy="694944"/>
          </a:xfrm>
          <a:prstGeom prst="rect">
            <a:avLst/>
          </a:prstGeom>
          <a:solidFill>
            <a:srgbClr val="FFF6E2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2BD524-E7CD-41C4-B0FF-ECAA27C537C4}"/>
              </a:ext>
            </a:extLst>
          </p:cNvPr>
          <p:cNvSpPr>
            <a:spLocks noGrp="1"/>
          </p:cNvSpPr>
          <p:nvPr/>
        </p:nvSpPr>
        <p:spPr>
          <a:xfrm>
            <a:off x="6876288" y="4425696"/>
            <a:ext cx="404164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errores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A1BE84-A288-49C6-96B6-1279438BF445}"/>
              </a:ext>
            </a:extLst>
          </p:cNvPr>
          <p:cNvSpPr>
            <a:spLocks noGrp="1"/>
          </p:cNvSpPr>
          <p:nvPr/>
        </p:nvSpPr>
        <p:spPr>
          <a:xfrm>
            <a:off x="6876288" y="4681728"/>
            <a:ext cx="4041648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campo + causa</a:t>
            </a:r>
          </a:p>
        </p:txBody>
      </p:sp>
      <p:sp>
        <p:nvSpPr>
          <p:cNvPr id="23" name="Connector 22">
            <a:extLst>
              <a:ext uri="{FF2B5EF4-FFF2-40B4-BE49-F238E27FC236}">
                <a16:creationId xmlns:a16="http://schemas.microsoft.com/office/drawing/2014/main" id="{3E9DF670-CA81-4030-B06D-8941EFA3631D}"/>
              </a:ext>
            </a:extLst>
          </p:cNvPr>
          <p:cNvSpPr>
            <a:spLocks noGrp="1"/>
          </p:cNvSpPr>
          <p:nvPr/>
        </p:nvSpPr>
        <p:spPr>
          <a:xfrm>
            <a:off x="6382512" y="4700016"/>
            <a:ext cx="320040" cy="0"/>
          </a:xfrm>
          <a:prstGeom prst="line">
            <a:avLst/>
          </a:prstGeom>
          <a:ln w="31750">
            <a:solidFill>
              <a:srgbClr val="FFB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045098-1342-47A2-A588-668F4FEFED54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DAEE05-A289-45F2-9C38-55766A1EAE50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 pipeline claro evita conversiones ocultas y facilita depuración.</a:t>
            </a:r>
          </a:p>
        </p:txBody>
      </p:sp>
    </p:spTree>
    <p:extLst>
      <p:ext uri="{BB962C8B-B14F-4D97-AF65-F5344CB8AC3E}">
        <p14:creationId xmlns:p14="http://schemas.microsoft.com/office/powerpoint/2010/main" val="850489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0D3BA4-DFEB-4809-89C4-BC202D2D859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20C4C-B136-4737-A65C-700695EF97D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Conversión de un formulario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CE59E-C56E-45D8-A731-2E589AF1391E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frontera de entrada debe entregar datos tipados.</a:t>
            </a:r>
          </a:p>
        </p:txBody>
      </p:sp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4265F3-DAF4-4B3E-A58B-EEBE4D47D55B}"/>
              </a:ext>
            </a:extLst>
          </p:cNvPr>
          <p:cNvSpPr>
            <a:spLocks noGrp="1"/>
          </p:cNvSpPr>
          <p:nvPr/>
        </p:nvSpPr>
        <p:spPr>
          <a:xfrm>
            <a:off x="658368" y="16642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592C63-DAAA-4EE4-B659-56968212BA5B}"/>
              </a:ext>
            </a:extLst>
          </p:cNvPr>
          <p:cNvSpPr>
            <a:spLocks noGrp="1"/>
          </p:cNvSpPr>
          <p:nvPr/>
        </p:nvSpPr>
        <p:spPr>
          <a:xfrm>
            <a:off x="658368" y="2148840"/>
            <a:ext cx="1975103" cy="987552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AE846-268E-46FB-85CA-4F33D1C9FCAB}"/>
              </a:ext>
            </a:extLst>
          </p:cNvPr>
          <p:cNvSpPr>
            <a:spLocks noGrp="1"/>
          </p:cNvSpPr>
          <p:nvPr/>
        </p:nvSpPr>
        <p:spPr>
          <a:xfrm>
            <a:off x="704088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FormData</a:t>
            </a:r>
          </a:p>
        </p:txBody>
      </p:sp>
      <p:sp>
        <p:nvSpPr>
          <p:cNvPr id="9" name="Connector 8">
            <a:extLst>
              <a:ext uri="{FF2B5EF4-FFF2-40B4-BE49-F238E27FC236}">
                <a16:creationId xmlns:a16="http://schemas.microsoft.com/office/drawing/2014/main" id="{E6FA9F73-3A4B-4A26-9717-7749C367E2F5}"/>
              </a:ext>
            </a:extLst>
          </p:cNvPr>
          <p:cNvSpPr>
            <a:spLocks noGrp="1"/>
          </p:cNvSpPr>
          <p:nvPr/>
        </p:nvSpPr>
        <p:spPr>
          <a:xfrm>
            <a:off x="2633472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DFF9E88-6158-45B1-B7CC-7BF099DDCB52}"/>
              </a:ext>
            </a:extLst>
          </p:cNvPr>
          <p:cNvSpPr>
            <a:spLocks noGrp="1"/>
          </p:cNvSpPr>
          <p:nvPr/>
        </p:nvSpPr>
        <p:spPr>
          <a:xfrm>
            <a:off x="2816352" y="2148840"/>
            <a:ext cx="1975103" cy="987552"/>
          </a:xfrm>
          <a:prstGeom prst="rect">
            <a:avLst/>
          </a:prstGeom>
          <a:solidFill>
            <a:srgbClr val="ECF8F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9EDC4-2DFB-443B-AB4C-CFDB055BC5A9}"/>
              </a:ext>
            </a:extLst>
          </p:cNvPr>
          <p:cNvSpPr>
            <a:spLocks noGrp="1"/>
          </p:cNvSpPr>
          <p:nvPr/>
        </p:nvSpPr>
        <p:spPr>
          <a:xfrm>
            <a:off x="2862072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String</a:t>
            </a:r>
          </a:p>
        </p:txBody>
      </p:sp>
      <p:sp>
        <p:nvSpPr>
          <p:cNvPr id="12" name="Connector 11">
            <a:extLst>
              <a:ext uri="{FF2B5EF4-FFF2-40B4-BE49-F238E27FC236}">
                <a16:creationId xmlns:a16="http://schemas.microsoft.com/office/drawing/2014/main" id="{F6313211-0BFF-4F1E-A10A-1A218AC132A7}"/>
              </a:ext>
            </a:extLst>
          </p:cNvPr>
          <p:cNvSpPr>
            <a:spLocks noGrp="1"/>
          </p:cNvSpPr>
          <p:nvPr/>
        </p:nvSpPr>
        <p:spPr>
          <a:xfrm>
            <a:off x="4791456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E71969-6D61-4BB7-909F-ED1E27BCFD33}"/>
              </a:ext>
            </a:extLst>
          </p:cNvPr>
          <p:cNvSpPr>
            <a:spLocks noGrp="1"/>
          </p:cNvSpPr>
          <p:nvPr/>
        </p:nvSpPr>
        <p:spPr>
          <a:xfrm>
            <a:off x="4974336" y="2148840"/>
            <a:ext cx="1975103" cy="987552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D6B563-9961-4006-A4D2-1B74DCE0BBB4}"/>
              </a:ext>
            </a:extLst>
          </p:cNvPr>
          <p:cNvSpPr>
            <a:spLocks noGrp="1"/>
          </p:cNvSpPr>
          <p:nvPr/>
        </p:nvSpPr>
        <p:spPr>
          <a:xfrm>
            <a:off x="5020055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Parser</a:t>
            </a:r>
          </a:p>
        </p:txBody>
      </p:sp>
      <p:sp>
        <p:nvSpPr>
          <p:cNvPr id="15" name="Connector 14">
            <a:extLst>
              <a:ext uri="{FF2B5EF4-FFF2-40B4-BE49-F238E27FC236}">
                <a16:creationId xmlns:a16="http://schemas.microsoft.com/office/drawing/2014/main" id="{754098C8-DFDE-4699-8FAB-D7EBF64C7D8A}"/>
              </a:ext>
            </a:extLst>
          </p:cNvPr>
          <p:cNvSpPr>
            <a:spLocks noGrp="1"/>
          </p:cNvSpPr>
          <p:nvPr/>
        </p:nvSpPr>
        <p:spPr>
          <a:xfrm>
            <a:off x="6949440" y="2651760"/>
            <a:ext cx="182880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C8428D-208C-47BE-AF44-42E0157AE541}"/>
              </a:ext>
            </a:extLst>
          </p:cNvPr>
          <p:cNvSpPr>
            <a:spLocks noGrp="1"/>
          </p:cNvSpPr>
          <p:nvPr/>
        </p:nvSpPr>
        <p:spPr>
          <a:xfrm>
            <a:off x="7132319" y="2148840"/>
            <a:ext cx="1975103" cy="987552"/>
          </a:xfrm>
          <a:prstGeom prst="rect">
            <a:avLst/>
          </a:prstGeom>
          <a:solidFill>
            <a:srgbClr val="FFF6E2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F86F35-73D5-4F6F-B106-EC95665E19C4}"/>
              </a:ext>
            </a:extLst>
          </p:cNvPr>
          <p:cNvSpPr>
            <a:spLocks noGrp="1"/>
          </p:cNvSpPr>
          <p:nvPr/>
        </p:nvSpPr>
        <p:spPr>
          <a:xfrm>
            <a:off x="7178039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Regla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A51FFB4A-43BA-4397-A98D-DDEEA1F56E52}"/>
              </a:ext>
            </a:extLst>
          </p:cNvPr>
          <p:cNvSpPr>
            <a:spLocks noGrp="1"/>
          </p:cNvSpPr>
          <p:nvPr/>
        </p:nvSpPr>
        <p:spPr>
          <a:xfrm>
            <a:off x="9107424" y="2651760"/>
            <a:ext cx="182879" cy="0"/>
          </a:xfrm>
          <a:prstGeom prst="line">
            <a:avLst/>
          </a:prstGeom>
          <a:ln w="31750">
            <a:solidFill>
              <a:srgbClr val="702B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s-P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882E8E-D4F7-4623-82EE-6E11185C0508}"/>
              </a:ext>
            </a:extLst>
          </p:cNvPr>
          <p:cNvSpPr>
            <a:spLocks noGrp="1"/>
          </p:cNvSpPr>
          <p:nvPr/>
        </p:nvSpPr>
        <p:spPr>
          <a:xfrm>
            <a:off x="9290303" y="2148840"/>
            <a:ext cx="1975103" cy="987552"/>
          </a:xfrm>
          <a:prstGeom prst="rect">
            <a:avLst/>
          </a:prstGeom>
          <a:solidFill>
            <a:srgbClr val="FFEEEE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3B928F-E072-412C-B86A-DB343C7215BA}"/>
              </a:ext>
            </a:extLst>
          </p:cNvPr>
          <p:cNvSpPr>
            <a:spLocks noGrp="1"/>
          </p:cNvSpPr>
          <p:nvPr/>
        </p:nvSpPr>
        <p:spPr>
          <a:xfrm>
            <a:off x="9336024" y="2377440"/>
            <a:ext cx="1883663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Modelo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9F7DB2-0EFB-496F-B798-05575D94EAA2}"/>
              </a:ext>
            </a:extLst>
          </p:cNvPr>
          <p:cNvSpPr>
            <a:spLocks noGrp="1"/>
          </p:cNvSpPr>
          <p:nvPr/>
        </p:nvSpPr>
        <p:spPr>
          <a:xfrm>
            <a:off x="658368" y="3749038"/>
            <a:ext cx="10469880" cy="1865371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34AED0-3FCC-4ED7-A4E4-D66949FF36EE}"/>
              </a:ext>
            </a:extLst>
          </p:cNvPr>
          <p:cNvSpPr>
            <a:spLocks noGrp="1"/>
          </p:cNvSpPr>
          <p:nvPr/>
        </p:nvSpPr>
        <p:spPr>
          <a:xfrm>
            <a:off x="868680" y="3886200"/>
            <a:ext cx="3657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40EACF-2BD4-4583-9A5C-208AA41EC2CD}"/>
              </a:ext>
            </a:extLst>
          </p:cNvPr>
          <p:cNvSpPr>
            <a:spLocks noGrp="1"/>
          </p:cNvSpPr>
          <p:nvPr/>
        </p:nvSpPr>
        <p:spPr>
          <a:xfrm>
            <a:off x="960120" y="425196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FormData entrega texto o archivos.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40B26-B546-464B-AFE3-A98CB8B0CC02}"/>
              </a:ext>
            </a:extLst>
          </p:cNvPr>
          <p:cNvSpPr>
            <a:spLocks noGrp="1"/>
          </p:cNvSpPr>
          <p:nvPr/>
        </p:nvSpPr>
        <p:spPr>
          <a:xfrm>
            <a:off x="960120" y="459943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Cada campo requiere un parser específico.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078A0E-399C-4774-8D07-C4B135BFEB6F}"/>
              </a:ext>
            </a:extLst>
          </p:cNvPr>
          <p:cNvSpPr>
            <a:spLocks noGrp="1"/>
          </p:cNvSpPr>
          <p:nvPr/>
        </p:nvSpPr>
        <p:spPr>
          <a:xfrm>
            <a:off x="960120" y="4946904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modelo recibe datos validados, no texto crudo.</a:t>
            </a:r>
          </a:p>
        </p:txBody>
      </p:sp>
    </p:spTree>
    <p:extLst>
      <p:ext uri="{BB962C8B-B14F-4D97-AF65-F5344CB8AC3E}">
        <p14:creationId xmlns:p14="http://schemas.microsoft.com/office/powerpoint/2010/main" val="111548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DF41CF-D295-4E79-BF75-A3FC283719B4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D56592-4A62-4A50-AE90-19FBD4CDFEB9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Number vs parsers tolerantes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76430-75AE-4C91-BC5B-A97013B961CC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Validación completa o extracción de prefijos.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5B61542-333A-4193-8BF1-388C5F38A223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699F77-9B00-43BC-BD30-BE17038C0929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96318-220C-4DCB-8D80-8E9A2961F9EB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503B56-B0DA-4852-9306-0999E5E5297F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parseInt / parseFloat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8186E-3EA1-4CB1-98AF-0ACF12BFEDE5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Exige toda la cadena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8895D-5EA2-4F4D-BB69-80E3E6207BB2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"25px" produce NaN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D1213-1779-44C3-8CB8-54D9DC6E5729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Vacío produce cero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68E36-7D58-4AF7-85C8-9FD5268B08F3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Útil en datos estrictos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9417D-5B7C-419A-97D9-4D33329EA189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Lee desde el inicio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8A43F7-2B80-4EC0-AD50-AE9E23559DE4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Tolera sufijos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FD776F-CCD2-4936-9E37-B46B9CE9FD04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parseInt admite base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ED898C-7333-4BBB-BF28-52F6CEEC3231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Útil en formatos conocidos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8A113-5280-4004-9BE7-B3F1A95266D5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3E06B6-AD89-49C8-8866-C3C8C2AB7EC4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uses parseInt para ocultar texto inválido que debería rechazarse.</a:t>
            </a:r>
          </a:p>
        </p:txBody>
      </p:sp>
    </p:spTree>
    <p:extLst>
      <p:ext uri="{BB962C8B-B14F-4D97-AF65-F5344CB8AC3E}">
        <p14:creationId xmlns:p14="http://schemas.microsoft.com/office/powerpoint/2010/main" val="1103922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1E5010-03DD-43E7-AC9C-F527F8E3D446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76EBA-417C-4406-B28A-A28D4BD0B3A5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Conversión segura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3ABC8-5780-49C1-8A73-04262ACEA736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Diferenciar ausencia, vacío y error de formato.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79AFA6-5B6C-468B-9903-C3019D775C53}"/>
              </a:ext>
            </a:extLst>
          </p:cNvPr>
          <p:cNvSpPr>
            <a:spLocks noGrp="1"/>
          </p:cNvSpPr>
          <p:nvPr/>
        </p:nvSpPr>
        <p:spPr>
          <a:xfrm>
            <a:off x="594360" y="1645920"/>
            <a:ext cx="5257800" cy="3703320"/>
          </a:xfrm>
          <a:prstGeom prst="rect">
            <a:avLst/>
          </a:prstGeom>
          <a:solidFill>
            <a:srgbClr val="F2EB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A2201E-0D07-4C6E-8098-F77D1FE02507}"/>
              </a:ext>
            </a:extLst>
          </p:cNvPr>
          <p:cNvSpPr>
            <a:spLocks noGrp="1"/>
          </p:cNvSpPr>
          <p:nvPr/>
        </p:nvSpPr>
        <p:spPr>
          <a:xfrm>
            <a:off x="6327648" y="1645920"/>
            <a:ext cx="5257800" cy="3703320"/>
          </a:xfrm>
          <a:prstGeom prst="rect">
            <a:avLst/>
          </a:prstGeom>
          <a:solidFill>
            <a:srgbClr val="EBF6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5F50F-3720-4A27-B4F9-195DFEECA047}"/>
              </a:ext>
            </a:extLst>
          </p:cNvPr>
          <p:cNvSpPr>
            <a:spLocks noGrp="1"/>
          </p:cNvSpPr>
          <p:nvPr/>
        </p:nvSpPr>
        <p:spPr>
          <a:xfrm>
            <a:off x="841248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8EE606-1DDF-41DE-B60E-43BCF8CF16AB}"/>
              </a:ext>
            </a:extLst>
          </p:cNvPr>
          <p:cNvSpPr>
            <a:spLocks noGrp="1"/>
          </p:cNvSpPr>
          <p:nvPr/>
        </p:nvSpPr>
        <p:spPr>
          <a:xfrm>
            <a:off x="6565392" y="1847088"/>
            <a:ext cx="475488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Resultado tipado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A5206-C114-4657-9B5E-D84368352846}"/>
              </a:ext>
            </a:extLst>
          </p:cNvPr>
          <p:cNvSpPr>
            <a:spLocks noGrp="1"/>
          </p:cNvSpPr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Conservar texto original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6E008F-E901-42C3-962D-4D488E6113A9}"/>
              </a:ext>
            </a:extLst>
          </p:cNvPr>
          <p:cNvSpPr>
            <a:spLocks noGrp="1"/>
          </p:cNvSpPr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Aplicar trim y normalize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7D6E93-8496-4710-B3CE-315C8D517C82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Detectar campo vacío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DFDB9-2D7F-46E0-8F04-2347ECA17866}"/>
              </a:ext>
            </a:extLst>
          </p:cNvPr>
          <p:cNvSpPr>
            <a:spLocks noGrp="1"/>
          </p:cNvSpPr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Registrar origen del dato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F9716B-D9CF-4F99-A69C-274B74688EB0}"/>
              </a:ext>
            </a:extLst>
          </p:cNvPr>
          <p:cNvSpPr>
            <a:spLocks noGrp="1"/>
          </p:cNvSpPr>
          <p:nvPr/>
        </p:nvSpPr>
        <p:spPr>
          <a:xfrm>
            <a:off x="6656832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Valor o null según contrato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83841D-4D8D-46D1-90C6-E8E7D3C363DF}"/>
              </a:ext>
            </a:extLst>
          </p:cNvPr>
          <p:cNvSpPr>
            <a:spLocks noGrp="1"/>
          </p:cNvSpPr>
          <p:nvPr/>
        </p:nvSpPr>
        <p:spPr>
          <a:xfrm>
            <a:off x="6656832" y="29260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Number.isFinite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B09640-2D34-4DD2-A9F3-18840848F537}"/>
              </a:ext>
            </a:extLst>
          </p:cNvPr>
          <p:cNvSpPr>
            <a:spLocks noGrp="1"/>
          </p:cNvSpPr>
          <p:nvPr/>
        </p:nvSpPr>
        <p:spPr>
          <a:xfrm>
            <a:off x="6656832" y="3429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Booleano interpretado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8CE248-E486-44C3-A6DF-7CC38473FEDC}"/>
              </a:ext>
            </a:extLst>
          </p:cNvPr>
          <p:cNvSpPr>
            <a:spLocks noGrp="1"/>
          </p:cNvSpPr>
          <p:nvPr/>
        </p:nvSpPr>
        <p:spPr>
          <a:xfrm>
            <a:off x="6656832" y="393192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Error con campo y causa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4F517E-23CE-4AD2-AA70-95AE4339BE60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4DD370-7DBB-41A8-B7D0-01DD2D3F2537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trazabilidad de la conversión es tan importante como el valor final.</a:t>
            </a:r>
          </a:p>
        </p:txBody>
      </p:sp>
    </p:spTree>
    <p:extLst>
      <p:ext uri="{BB962C8B-B14F-4D97-AF65-F5344CB8AC3E}">
        <p14:creationId xmlns:p14="http://schemas.microsoft.com/office/powerpoint/2010/main" val="82527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9AEF31-7E21-43CB-BFBB-0D3B9CAE7E0E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7AE33E-9D8A-4544-BD7E-CB9011FFCAED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Recursos para profundizar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6C9F4-8DA1-4D98-A566-6523F50474F6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u="sng"/>
              <a:t>Documentación oficial recomendada para continuar después de clase</a:t>
            </a:r>
          </a:p>
        </p:txBody>
      </p:sp>
      <p:pic>
        <p:nvPicPr>
          <p:cNvPr id="2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6609B4-AA69-4925-8C2C-E6FA03A10A7F}"/>
              </a:ext>
            </a:extLst>
          </p:cNvPr>
          <p:cNvSpPr>
            <a:spLocks noGrp="1"/>
          </p:cNvSpPr>
          <p:nvPr/>
        </p:nvSpPr>
        <p:spPr>
          <a:xfrm>
            <a:off x="566928" y="2011680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044627-72AD-494A-A4B2-A497FD56C5B0}"/>
              </a:ext>
            </a:extLst>
          </p:cNvPr>
          <p:cNvSpPr>
            <a:spLocks noGrp="1"/>
          </p:cNvSpPr>
          <p:nvPr/>
        </p:nvSpPr>
        <p:spPr>
          <a:xfrm>
            <a:off x="768096" y="21031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Type coercion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32AA80-EF45-4B96-817F-6F149546F5EF}"/>
              </a:ext>
            </a:extLst>
          </p:cNvPr>
          <p:cNvSpPr>
            <a:spLocks noGrp="1"/>
          </p:cNvSpPr>
          <p:nvPr/>
        </p:nvSpPr>
        <p:spPr>
          <a:xfrm>
            <a:off x="768096" y="2404872"/>
            <a:ext cx="5486400" cy="262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https://developer.mozilla.org/docs/Glossary/Type_coercion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A88A6-C337-40D2-A1F9-3B0CCD8AF71E}"/>
              </a:ext>
            </a:extLst>
          </p:cNvPr>
          <p:cNvSpPr>
            <a:spLocks noGrp="1"/>
          </p:cNvSpPr>
          <p:nvPr/>
        </p:nvSpPr>
        <p:spPr>
          <a:xfrm>
            <a:off x="6446520" y="2157983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Reglas de coerción.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84E551-A6B7-49A6-A9C0-1B5098E4DA68}"/>
              </a:ext>
            </a:extLst>
          </p:cNvPr>
          <p:cNvSpPr>
            <a:spLocks noGrp="1"/>
          </p:cNvSpPr>
          <p:nvPr/>
        </p:nvSpPr>
        <p:spPr>
          <a:xfrm>
            <a:off x="566928" y="2944368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627F0A-DEA8-4D2A-BDC7-5133A949372E}"/>
              </a:ext>
            </a:extLst>
          </p:cNvPr>
          <p:cNvSpPr>
            <a:spLocks noGrp="1"/>
          </p:cNvSpPr>
          <p:nvPr/>
        </p:nvSpPr>
        <p:spPr>
          <a:xfrm>
            <a:off x="768095" y="3035808"/>
            <a:ext cx="439383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rPr dirty="0"/>
              <a:t>ECMAScript Type Conversion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21B4A7-BD56-4545-9CA2-2E6A65EF43DD}"/>
              </a:ext>
            </a:extLst>
          </p:cNvPr>
          <p:cNvSpPr>
            <a:spLocks noGrp="1"/>
          </p:cNvSpPr>
          <p:nvPr/>
        </p:nvSpPr>
        <p:spPr>
          <a:xfrm>
            <a:off x="768096" y="3337560"/>
            <a:ext cx="5486400" cy="2621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https://tc39.es/ecma262/#sec-type-conversion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99D5DE-66D3-4851-8AA5-77D51B16EC62}"/>
              </a:ext>
            </a:extLst>
          </p:cNvPr>
          <p:cNvSpPr>
            <a:spLocks noGrp="1"/>
          </p:cNvSpPr>
          <p:nvPr/>
        </p:nvSpPr>
        <p:spPr>
          <a:xfrm>
            <a:off x="6446520" y="309067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Algoritmos formales.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D79CFB-6D01-412B-8D6B-0C9D43F3ADD1}"/>
              </a:ext>
            </a:extLst>
          </p:cNvPr>
          <p:cNvSpPr>
            <a:spLocks noGrp="1"/>
          </p:cNvSpPr>
          <p:nvPr/>
        </p:nvSpPr>
        <p:spPr>
          <a:xfrm>
            <a:off x="566928" y="3877056"/>
            <a:ext cx="1051560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1F58CA-B012-4AB8-9BE0-2586E0FC1820}"/>
              </a:ext>
            </a:extLst>
          </p:cNvPr>
          <p:cNvSpPr>
            <a:spLocks noGrp="1"/>
          </p:cNvSpPr>
          <p:nvPr/>
        </p:nvSpPr>
        <p:spPr>
          <a:xfrm>
            <a:off x="768096" y="396849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Intl.NumberFormat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295F05-1546-4128-B5A0-79EA3A342810}"/>
              </a:ext>
            </a:extLst>
          </p:cNvPr>
          <p:cNvSpPr>
            <a:spLocks noGrp="1"/>
          </p:cNvSpPr>
          <p:nvPr/>
        </p:nvSpPr>
        <p:spPr>
          <a:xfrm>
            <a:off x="768096" y="4270248"/>
            <a:ext cx="7912610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rPr dirty="0"/>
              <a:t>https://developer.mozilla.org/docs/Web/JavaScript/Reference/Global_Objects/Intl/NumberFormat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EDC6DF-46C9-439F-8694-A3D514D49821}"/>
              </a:ext>
            </a:extLst>
          </p:cNvPr>
          <p:cNvSpPr>
            <a:spLocks noGrp="1"/>
          </p:cNvSpPr>
          <p:nvPr/>
        </p:nvSpPr>
        <p:spPr>
          <a:xfrm>
            <a:off x="6446520" y="4023360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Formato regional.</a:t>
            </a:r>
          </a:p>
        </p:txBody>
      </p:sp>
    </p:spTree>
    <p:extLst>
      <p:ext uri="{BB962C8B-B14F-4D97-AF65-F5344CB8AC3E}">
        <p14:creationId xmlns:p14="http://schemas.microsoft.com/office/powerpoint/2010/main" val="1053534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FFA127-D8DA-4C36-86E2-48DC5F9B56A6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7ACC8E-A833-4519-B50D-3DDF0C480657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Actividad Complementaria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1D46C9-4668-4501-AB9F-737C9FDF51A2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Importador CSV</a:t>
            </a:r>
          </a:p>
        </p:txBody>
      </p:sp>
      <p:pic>
        <p:nvPicPr>
          <p:cNvPr id="3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E6020B-D66C-4396-A0F8-423239FF493A}"/>
              </a:ext>
            </a:extLst>
          </p:cNvPr>
          <p:cNvSpPr>
            <a:spLocks noGrp="1"/>
          </p:cNvSpPr>
          <p:nvPr/>
        </p:nvSpPr>
        <p:spPr>
          <a:xfrm>
            <a:off x="658368" y="150876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Objetivo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8510F-AC0C-4C82-B775-E4955F418480}"/>
              </a:ext>
            </a:extLst>
          </p:cNvPr>
          <p:cNvSpPr>
            <a:spLocks noGrp="1"/>
          </p:cNvSpPr>
          <p:nvPr/>
        </p:nvSpPr>
        <p:spPr>
          <a:xfrm>
            <a:off x="658368" y="1847088"/>
            <a:ext cx="987552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Crear un conversor que entregue datos tipados y errores por campo.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0B1D4-6EA2-45D5-86DC-008D1D61179F}"/>
              </a:ext>
            </a:extLst>
          </p:cNvPr>
          <p:cNvSpPr>
            <a:spLocks noGrp="1"/>
          </p:cNvSpPr>
          <p:nvPr/>
        </p:nvSpPr>
        <p:spPr>
          <a:xfrm>
            <a:off x="658368" y="2514600"/>
            <a:ext cx="2286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Pasos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6760FD-BE3F-4A3A-906E-CE02F1D67EF6}"/>
              </a:ext>
            </a:extLst>
          </p:cNvPr>
          <p:cNvSpPr>
            <a:spLocks noGrp="1"/>
          </p:cNvSpPr>
          <p:nvPr/>
        </p:nvSpPr>
        <p:spPr>
          <a:xfrm>
            <a:off x="685800" y="2880360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63D03B-9216-41DB-949C-DF195B4A36D7}"/>
              </a:ext>
            </a:extLst>
          </p:cNvPr>
          <p:cNvSpPr>
            <a:spLocks noGrp="1"/>
          </p:cNvSpPr>
          <p:nvPr/>
        </p:nvSpPr>
        <p:spPr>
          <a:xfrm>
            <a:off x="685800" y="2944368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9D2AFA-BFED-444D-8851-7CAD250C2630}"/>
              </a:ext>
            </a:extLst>
          </p:cNvPr>
          <p:cNvSpPr>
            <a:spLocks noGrp="1"/>
          </p:cNvSpPr>
          <p:nvPr/>
        </p:nvSpPr>
        <p:spPr>
          <a:xfrm>
            <a:off x="1325880" y="289864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Definir el contrato de cada columna.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16F4-6658-4B26-A055-4A702CDCB313}"/>
              </a:ext>
            </a:extLst>
          </p:cNvPr>
          <p:cNvSpPr>
            <a:spLocks noGrp="1"/>
          </p:cNvSpPr>
          <p:nvPr/>
        </p:nvSpPr>
        <p:spPr>
          <a:xfrm>
            <a:off x="685800" y="3392424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B0F1A5-9BB9-479D-A3BB-FFAE757E2A72}"/>
              </a:ext>
            </a:extLst>
          </p:cNvPr>
          <p:cNvSpPr>
            <a:spLocks noGrp="1"/>
          </p:cNvSpPr>
          <p:nvPr/>
        </p:nvSpPr>
        <p:spPr>
          <a:xfrm>
            <a:off x="685800" y="3456432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A64128-C013-44B2-9148-C53A628A5610}"/>
              </a:ext>
            </a:extLst>
          </p:cNvPr>
          <p:cNvSpPr>
            <a:spLocks noGrp="1"/>
          </p:cNvSpPr>
          <p:nvPr/>
        </p:nvSpPr>
        <p:spPr>
          <a:xfrm>
            <a:off x="1325880" y="341071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Normalizar texto y montos.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9ABA61-5FE8-4E9C-9FC2-AB35C7397A9C}"/>
              </a:ext>
            </a:extLst>
          </p:cNvPr>
          <p:cNvSpPr>
            <a:spLocks noGrp="1"/>
          </p:cNvSpPr>
          <p:nvPr/>
        </p:nvSpPr>
        <p:spPr>
          <a:xfrm>
            <a:off x="685800" y="3904487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112D88-461E-4F9F-B333-383FFDD50B5A}"/>
              </a:ext>
            </a:extLst>
          </p:cNvPr>
          <p:cNvSpPr>
            <a:spLocks noGrp="1"/>
          </p:cNvSpPr>
          <p:nvPr/>
        </p:nvSpPr>
        <p:spPr>
          <a:xfrm>
            <a:off x="685800" y="3968496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2619E-DFA5-415E-ADCC-D7F0FD48B32D}"/>
              </a:ext>
            </a:extLst>
          </p:cNvPr>
          <p:cNvSpPr>
            <a:spLocks noGrp="1"/>
          </p:cNvSpPr>
          <p:nvPr/>
        </p:nvSpPr>
        <p:spPr>
          <a:xfrm>
            <a:off x="1325880" y="3922775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Convertir números y booleanos.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5BC7DA-1ED6-4AB5-A5D6-515A82C6078E}"/>
              </a:ext>
            </a:extLst>
          </p:cNvPr>
          <p:cNvSpPr>
            <a:spLocks noGrp="1"/>
          </p:cNvSpPr>
          <p:nvPr/>
        </p:nvSpPr>
        <p:spPr>
          <a:xfrm>
            <a:off x="685800" y="4416552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0BBDC8-0403-4882-877C-AD68E4846D3C}"/>
              </a:ext>
            </a:extLst>
          </p:cNvPr>
          <p:cNvSpPr>
            <a:spLocks noGrp="1"/>
          </p:cNvSpPr>
          <p:nvPr/>
        </p:nvSpPr>
        <p:spPr>
          <a:xfrm>
            <a:off x="685800" y="448056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7AA013-C582-45B5-AB9A-B218099B6EB6}"/>
              </a:ext>
            </a:extLst>
          </p:cNvPr>
          <p:cNvSpPr>
            <a:spLocks noGrp="1"/>
          </p:cNvSpPr>
          <p:nvPr/>
        </p:nvSpPr>
        <p:spPr>
          <a:xfrm>
            <a:off x="1325880" y="4434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Validar rangos y ausencia.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AB2567-AF25-404E-B90B-1AD9B8323B8F}"/>
              </a:ext>
            </a:extLst>
          </p:cNvPr>
          <p:cNvSpPr>
            <a:spLocks noGrp="1"/>
          </p:cNvSpPr>
          <p:nvPr/>
        </p:nvSpPr>
        <p:spPr>
          <a:xfrm>
            <a:off x="685800" y="4928616"/>
            <a:ext cx="438912" cy="365760"/>
          </a:xfrm>
          <a:prstGeom prst="rect">
            <a:avLst/>
          </a:prstGeom>
          <a:solidFill>
            <a:srgbClr val="F2EB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3BCE65-61A9-4B3B-BB55-5C27C743F220}"/>
              </a:ext>
            </a:extLst>
          </p:cNvPr>
          <p:cNvSpPr>
            <a:spLocks noGrp="1"/>
          </p:cNvSpPr>
          <p:nvPr/>
        </p:nvSpPr>
        <p:spPr>
          <a:xfrm>
            <a:off x="685800" y="4992624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43446E-54C4-4BF0-87E9-C1FE71BB8C00}"/>
              </a:ext>
            </a:extLst>
          </p:cNvPr>
          <p:cNvSpPr>
            <a:spLocks noGrp="1"/>
          </p:cNvSpPr>
          <p:nvPr/>
        </p:nvSpPr>
        <p:spPr>
          <a:xfrm>
            <a:off x="1325880" y="4946904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Probar entradas ambiguas e inválidas.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1E7A22-F8F9-4701-A31B-D920E7526401}"/>
              </a:ext>
            </a:extLst>
          </p:cNvPr>
          <p:cNvSpPr>
            <a:spLocks noGrp="1"/>
          </p:cNvSpPr>
          <p:nvPr/>
        </p:nvSpPr>
        <p:spPr>
          <a:xfrm>
            <a:off x="658368" y="5577840"/>
            <a:ext cx="7178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B41F32-2E13-4BAB-8A14-7C38CCFEB2BD}"/>
              </a:ext>
            </a:extLst>
          </p:cNvPr>
          <p:cNvSpPr>
            <a:spLocks noGrp="1"/>
          </p:cNvSpPr>
          <p:nvPr/>
        </p:nvSpPr>
        <p:spPr>
          <a:xfrm>
            <a:off x="868680" y="5742432"/>
            <a:ext cx="6720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Entrega: normalizador + matriz de casos.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8B9A5B-7E00-49F2-9784-ADBEAF6FCEB6}"/>
              </a:ext>
            </a:extLst>
          </p:cNvPr>
          <p:cNvSpPr>
            <a:spLocks noGrp="1"/>
          </p:cNvSpPr>
          <p:nvPr/>
        </p:nvSpPr>
        <p:spPr>
          <a:xfrm>
            <a:off x="8092440" y="5577840"/>
            <a:ext cx="269748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1112DA-B892-49DC-8E64-D21A816C8E21}"/>
              </a:ext>
            </a:extLst>
          </p:cNvPr>
          <p:cNvSpPr>
            <a:spLocks noGrp="1"/>
          </p:cNvSpPr>
          <p:nvPr/>
        </p:nvSpPr>
        <p:spPr>
          <a:xfrm>
            <a:off x="8092440" y="5742432"/>
            <a:ext cx="2697480" cy="35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Tiempo: 100 min</a:t>
            </a:r>
          </a:p>
        </p:txBody>
      </p:sp>
    </p:spTree>
    <p:extLst>
      <p:ext uri="{BB962C8B-B14F-4D97-AF65-F5344CB8AC3E}">
        <p14:creationId xmlns:p14="http://schemas.microsoft.com/office/powerpoint/2010/main" val="196803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BEE75E-E63D-4DE2-A6AA-38960FB77439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10972800" cy="82296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9CC5CF-9BFD-4B49-8786-983F9C944E41}"/>
              </a:ext>
            </a:extLst>
          </p:cNvPr>
          <p:cNvSpPr>
            <a:spLocks noGrp="1"/>
          </p:cNvSpPr>
          <p:nvPr/>
        </p:nvSpPr>
        <p:spPr>
          <a:xfrm>
            <a:off x="502920" y="658368"/>
            <a:ext cx="1115568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Consultas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7E3FB5-E730-43D9-B815-7EF962E4E478}"/>
              </a:ext>
            </a:extLst>
          </p:cNvPr>
          <p:cNvSpPr>
            <a:spLocks noGrp="1"/>
          </p:cNvSpPr>
          <p:nvPr/>
        </p:nvSpPr>
        <p:spPr>
          <a:xfrm>
            <a:off x="658368" y="1243584"/>
            <a:ext cx="10515600" cy="39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Preguntas guía para repasar antes de la práctica: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5504688"/>
            <a:ext cx="749808" cy="11247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576084-F5C3-4BAE-88C5-4E793547EA7C}"/>
              </a:ext>
            </a:extLst>
          </p:cNvPr>
          <p:cNvSpPr>
            <a:spLocks noGrp="1"/>
          </p:cNvSpPr>
          <p:nvPr/>
        </p:nvSpPr>
        <p:spPr>
          <a:xfrm>
            <a:off x="96012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05DC4-80E9-4708-A89C-E17B08B63FE4}"/>
              </a:ext>
            </a:extLst>
          </p:cNvPr>
          <p:cNvSpPr>
            <a:spLocks noGrp="1"/>
          </p:cNvSpPr>
          <p:nvPr/>
        </p:nvSpPr>
        <p:spPr>
          <a:xfrm>
            <a:off x="96012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93DD99-1402-4672-AFDE-6860473D832A}"/>
              </a:ext>
            </a:extLst>
          </p:cNvPr>
          <p:cNvSpPr>
            <a:spLocks noGrp="1"/>
          </p:cNvSpPr>
          <p:nvPr/>
        </p:nvSpPr>
        <p:spPr>
          <a:xfrm>
            <a:off x="1618488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¿Por qué Number("") produce cero?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178B98-37CA-40BA-9788-828E84638486}"/>
              </a:ext>
            </a:extLst>
          </p:cNvPr>
          <p:cNvSpPr>
            <a:spLocks noGrp="1"/>
          </p:cNvSpPr>
          <p:nvPr/>
        </p:nvSpPr>
        <p:spPr>
          <a:xfrm>
            <a:off x="6263640" y="19202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FD65DD-7EDB-436C-A730-30C926ACC644}"/>
              </a:ext>
            </a:extLst>
          </p:cNvPr>
          <p:cNvSpPr>
            <a:spLocks noGrp="1"/>
          </p:cNvSpPr>
          <p:nvPr/>
        </p:nvSpPr>
        <p:spPr>
          <a:xfrm>
            <a:off x="6263640" y="19933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64910-FC0C-413F-9D04-E502F849ACF6}"/>
              </a:ext>
            </a:extLst>
          </p:cNvPr>
          <p:cNvSpPr>
            <a:spLocks noGrp="1"/>
          </p:cNvSpPr>
          <p:nvPr/>
        </p:nvSpPr>
        <p:spPr>
          <a:xfrm>
            <a:off x="6922007" y="19019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usar parseInt en lugar de Number?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09CFDD-1BF4-4971-819B-9E1C88380EE1}"/>
              </a:ext>
            </a:extLst>
          </p:cNvPr>
          <p:cNvSpPr>
            <a:spLocks noGrp="1"/>
          </p:cNvSpPr>
          <p:nvPr/>
        </p:nvSpPr>
        <p:spPr>
          <a:xfrm>
            <a:off x="96012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503FC1-E91A-4E16-9B8B-FB3C426BF6E7}"/>
              </a:ext>
            </a:extLst>
          </p:cNvPr>
          <p:cNvSpPr>
            <a:spLocks noGrp="1"/>
          </p:cNvSpPr>
          <p:nvPr/>
        </p:nvSpPr>
        <p:spPr>
          <a:xfrm>
            <a:off x="96012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D03C5-A189-4E72-82BD-E293DD0B65EF}"/>
              </a:ext>
            </a:extLst>
          </p:cNvPr>
          <p:cNvSpPr>
            <a:spLocks noGrp="1"/>
          </p:cNvSpPr>
          <p:nvPr/>
        </p:nvSpPr>
        <p:spPr>
          <a:xfrm>
            <a:off x="1618488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¿Por qué Boolean("false") es true?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21C9E4-A444-4BFA-8C76-3F5F1A212F0C}"/>
              </a:ext>
            </a:extLst>
          </p:cNvPr>
          <p:cNvSpPr>
            <a:spLocks noGrp="1"/>
          </p:cNvSpPr>
          <p:nvPr/>
        </p:nvSpPr>
        <p:spPr>
          <a:xfrm>
            <a:off x="6263640" y="3520440"/>
            <a:ext cx="457200" cy="47548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71FFB1-FDAE-455B-A4D6-C35C6557F978}"/>
              </a:ext>
            </a:extLst>
          </p:cNvPr>
          <p:cNvSpPr>
            <a:spLocks noGrp="1"/>
          </p:cNvSpPr>
          <p:nvPr/>
        </p:nvSpPr>
        <p:spPr>
          <a:xfrm>
            <a:off x="6263640" y="3593592"/>
            <a:ext cx="457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8E55DE-D1B7-4EA6-8C72-B8EA1688463B}"/>
              </a:ext>
            </a:extLst>
          </p:cNvPr>
          <p:cNvSpPr>
            <a:spLocks noGrp="1"/>
          </p:cNvSpPr>
          <p:nvPr/>
        </p:nvSpPr>
        <p:spPr>
          <a:xfrm>
            <a:off x="6922007" y="3502152"/>
            <a:ext cx="4206240" cy="701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¿Cómo evitar errores monetarios?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1DCF6D-E002-443D-A336-1D1873E2CE70}"/>
              </a:ext>
            </a:extLst>
          </p:cNvPr>
          <p:cNvSpPr>
            <a:spLocks noGrp="1"/>
          </p:cNvSpPr>
          <p:nvPr/>
        </p:nvSpPr>
        <p:spPr>
          <a:xfrm>
            <a:off x="548640" y="5650992"/>
            <a:ext cx="10195560" cy="566928"/>
          </a:xfrm>
          <a:prstGeom prst="rect">
            <a:avLst/>
          </a:prstGeom>
          <a:solidFill>
            <a:srgbClr val="702BE9"/>
          </a:solidFill>
          <a:ln>
            <a:solidFill>
              <a:srgbClr val="702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A43830-5679-4BB5-9755-ED30AE7524D3}"/>
              </a:ext>
            </a:extLst>
          </p:cNvPr>
          <p:cNvSpPr>
            <a:spLocks noGrp="1"/>
          </p:cNvSpPr>
          <p:nvPr/>
        </p:nvSpPr>
        <p:spPr>
          <a:xfrm>
            <a:off x="685800" y="5797296"/>
            <a:ext cx="9921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Convertir con seguridad exige normalizar, validar y conservar trazabilidad.</a:t>
            </a:r>
          </a:p>
        </p:txBody>
      </p:sp>
    </p:spTree>
    <p:extLst>
      <p:ext uri="{BB962C8B-B14F-4D97-AF65-F5344CB8AC3E}">
        <p14:creationId xmlns:p14="http://schemas.microsoft.com/office/powerpoint/2010/main" val="19278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Microsoft Office PowerPoint</Application>
  <DocSecurity>0</DocSecurity>
  <PresentationFormat>Panorámica</PresentationFormat>
  <Paragraphs>259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Inche Ticlavilca Bernabe Daniel</cp:lastModifiedBy>
  <cp:revision>2</cp:revision>
  <dcterms:created xsi:type="dcterms:W3CDTF">2026-10-06T12:47:52Z</dcterms:created>
  <dcterms:modified xsi:type="dcterms:W3CDTF">2026-10-06T13:01:18Z</dcterms:modified>
</cp:coreProperties>
</file>